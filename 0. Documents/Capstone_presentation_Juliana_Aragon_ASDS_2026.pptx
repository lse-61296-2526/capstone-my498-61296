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10"/>
  </p:notesMasterIdLst>
  <p:sldIdLst>
    <p:sldId id="257" r:id="rId2"/>
    <p:sldId id="258" r:id="rId3"/>
    <p:sldId id="259" r:id="rId4"/>
    <p:sldId id="262" r:id="rId5"/>
    <p:sldId id="263" r:id="rId6"/>
    <p:sldId id="260" r:id="rId7"/>
    <p:sldId id="261" r:id="rId8"/>
    <p:sldId id="264"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43" d="100"/>
          <a:sy n="43" d="100"/>
        </p:scale>
        <p:origin x="1210" y="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98685A-E687-4E56-8CF8-9BF1ADC64274}" type="datetimeFigureOut">
              <a:rPr lang="es-CO" smtClean="0"/>
              <a:t>14/06/2026</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3DE30B-B54C-4AA8-8B35-6A9ABD1CCBEA}" type="slidenum">
              <a:rPr lang="es-CO" smtClean="0"/>
              <a:t>‹Nº›</a:t>
            </a:fld>
            <a:endParaRPr lang="es-CO"/>
          </a:p>
        </p:txBody>
      </p:sp>
    </p:spTree>
    <p:extLst>
      <p:ext uri="{BB962C8B-B14F-4D97-AF65-F5344CB8AC3E}">
        <p14:creationId xmlns:p14="http://schemas.microsoft.com/office/powerpoint/2010/main" val="31424843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73716D-B999-8797-BEB2-E559C2653F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C3F10C-B973-A24E-D0C3-CC637D68EB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52AA9E-C06F-3590-1622-CFED188A8CE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6CFEA97-255E-8D1F-75BB-BAF2E04AEC42}"/>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6615066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lvl1pPr algn="l">
              <a:defRPr/>
            </a:lvl1pPr>
          </a:lstStyle>
          <a:p>
            <a:fld id="{4B23577A-C908-4E33-8098-14F046B6A130}" type="datetimeFigureOut">
              <a:rPr lang="es-CO" smtClean="0"/>
              <a:t>14/06/2026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EB9AFC6F-5320-48D2-B95C-F88F3308DCD5}" type="slidenum">
              <a:rPr lang="es-CO" smtClean="0"/>
              <a:t>‹Nº›</a:t>
            </a:fld>
            <a:endParaRPr lang="es-CO"/>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883216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B23577A-C908-4E33-8098-14F046B6A130}" type="datetimeFigureOut">
              <a:rPr lang="es-CO" smtClean="0"/>
              <a:t>14/06/2026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EB9AFC6F-5320-48D2-B95C-F88F3308DCD5}" type="slidenum">
              <a:rPr lang="es-CO" smtClean="0"/>
              <a:t>‹Nº›</a:t>
            </a:fld>
            <a:endParaRPr lang="es-CO"/>
          </a:p>
        </p:txBody>
      </p:sp>
    </p:spTree>
    <p:extLst>
      <p:ext uri="{BB962C8B-B14F-4D97-AF65-F5344CB8AC3E}">
        <p14:creationId xmlns:p14="http://schemas.microsoft.com/office/powerpoint/2010/main" val="7806610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4B23577A-C908-4E33-8098-14F046B6A130}" type="datetimeFigureOut">
              <a:rPr lang="es-CO" smtClean="0"/>
              <a:t>14/06/2026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EB9AFC6F-5320-48D2-B95C-F88F3308DCD5}" type="slidenum">
              <a:rPr lang="es-CO" smtClean="0"/>
              <a:t>‹Nº›</a:t>
            </a:fld>
            <a:endParaRPr lang="es-CO"/>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662131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4B23577A-C908-4E33-8098-14F046B6A130}" type="datetimeFigureOut">
              <a:rPr lang="es-CO" smtClean="0"/>
              <a:t>14/06/2026</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EB9AFC6F-5320-48D2-B95C-F88F3308DCD5}" type="slidenum">
              <a:rPr lang="es-CO" smtClean="0"/>
              <a:t>‹Nº›</a:t>
            </a:fld>
            <a:endParaRPr lang="es-CO"/>
          </a:p>
        </p:txBody>
      </p:sp>
    </p:spTree>
    <p:extLst>
      <p:ext uri="{BB962C8B-B14F-4D97-AF65-F5344CB8AC3E}">
        <p14:creationId xmlns:p14="http://schemas.microsoft.com/office/powerpoint/2010/main" val="15648820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024128" y="2967788"/>
            <a:ext cx="4754880" cy="334157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s-ES"/>
              <a:t>Haga clic para modificar los estilos de texto del patrón</a:t>
            </a:r>
          </a:p>
        </p:txBody>
      </p:sp>
      <p:sp>
        <p:nvSpPr>
          <p:cNvPr id="6" name="Content Placeholder 5"/>
          <p:cNvSpPr>
            <a:spLocks noGrp="1"/>
          </p:cNvSpPr>
          <p:nvPr>
            <p:ph sz="quarter" idx="4"/>
          </p:nvPr>
        </p:nvSpPr>
        <p:spPr>
          <a:xfrm>
            <a:off x="5990888" y="2967788"/>
            <a:ext cx="4754880" cy="334157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4B23577A-C908-4E33-8098-14F046B6A130}" type="datetimeFigureOut">
              <a:rPr lang="es-CO" smtClean="0"/>
              <a:t>14/06/2026</a:t>
            </a:fld>
            <a:endParaRPr lang="es-CO"/>
          </a:p>
        </p:txBody>
      </p:sp>
      <p:sp>
        <p:nvSpPr>
          <p:cNvPr id="8" name="Footer Placeholder 7"/>
          <p:cNvSpPr>
            <a:spLocks noGrp="1"/>
          </p:cNvSpPr>
          <p:nvPr>
            <p:ph type="ftr" sz="quarter" idx="11"/>
          </p:nvPr>
        </p:nvSpPr>
        <p:spPr/>
        <p:txBody>
          <a:bodyPr/>
          <a:lstStyle/>
          <a:p>
            <a:endParaRPr lang="es-CO"/>
          </a:p>
        </p:txBody>
      </p:sp>
      <p:sp>
        <p:nvSpPr>
          <p:cNvPr id="9" name="Slide Number Placeholder 8"/>
          <p:cNvSpPr>
            <a:spLocks noGrp="1"/>
          </p:cNvSpPr>
          <p:nvPr>
            <p:ph type="sldNum" sz="quarter" idx="12"/>
          </p:nvPr>
        </p:nvSpPr>
        <p:spPr/>
        <p:txBody>
          <a:bodyPr/>
          <a:lstStyle/>
          <a:p>
            <a:fld id="{EB9AFC6F-5320-48D2-B95C-F88F3308DCD5}" type="slidenum">
              <a:rPr lang="es-CO" smtClean="0"/>
              <a:t>‹Nº›</a:t>
            </a:fld>
            <a:endParaRPr lang="es-CO"/>
          </a:p>
        </p:txBody>
      </p:sp>
    </p:spTree>
    <p:extLst>
      <p:ext uri="{BB962C8B-B14F-4D97-AF65-F5344CB8AC3E}">
        <p14:creationId xmlns:p14="http://schemas.microsoft.com/office/powerpoint/2010/main" val="24832426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4B23577A-C908-4E33-8098-14F046B6A130}" type="datetimeFigureOut">
              <a:rPr lang="es-CO" smtClean="0"/>
              <a:t>14/06/2026</a:t>
            </a:fld>
            <a:endParaRPr lang="es-CO"/>
          </a:p>
        </p:txBody>
      </p:sp>
      <p:sp>
        <p:nvSpPr>
          <p:cNvPr id="4" name="Footer Placeholder 3"/>
          <p:cNvSpPr>
            <a:spLocks noGrp="1"/>
          </p:cNvSpPr>
          <p:nvPr>
            <p:ph type="ftr" sz="quarter" idx="11"/>
          </p:nvPr>
        </p:nvSpPr>
        <p:spPr/>
        <p:txBody>
          <a:bodyPr/>
          <a:lstStyle/>
          <a:p>
            <a:endParaRPr lang="es-CO"/>
          </a:p>
        </p:txBody>
      </p:sp>
      <p:sp>
        <p:nvSpPr>
          <p:cNvPr id="5" name="Slide Number Placeholder 4"/>
          <p:cNvSpPr>
            <a:spLocks noGrp="1"/>
          </p:cNvSpPr>
          <p:nvPr>
            <p:ph type="sldNum" sz="quarter" idx="12"/>
          </p:nvPr>
        </p:nvSpPr>
        <p:spPr/>
        <p:txBody>
          <a:bodyPr/>
          <a:lstStyle/>
          <a:p>
            <a:fld id="{EB9AFC6F-5320-48D2-B95C-F88F3308DCD5}" type="slidenum">
              <a:rPr lang="es-CO" smtClean="0"/>
              <a:t>‹Nº›</a:t>
            </a:fld>
            <a:endParaRPr lang="es-CO"/>
          </a:p>
        </p:txBody>
      </p:sp>
    </p:spTree>
    <p:extLst>
      <p:ext uri="{BB962C8B-B14F-4D97-AF65-F5344CB8AC3E}">
        <p14:creationId xmlns:p14="http://schemas.microsoft.com/office/powerpoint/2010/main" val="27326278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B23577A-C908-4E33-8098-14F046B6A130}" type="datetimeFigureOut">
              <a:rPr lang="es-CO" smtClean="0"/>
              <a:t>14/06/2026</a:t>
            </a:fld>
            <a:endParaRPr lang="es-CO"/>
          </a:p>
        </p:txBody>
      </p:sp>
      <p:sp>
        <p:nvSpPr>
          <p:cNvPr id="3" name="Footer Placeholder 2"/>
          <p:cNvSpPr>
            <a:spLocks noGrp="1"/>
          </p:cNvSpPr>
          <p:nvPr>
            <p:ph type="ftr" sz="quarter" idx="11"/>
          </p:nvPr>
        </p:nvSpPr>
        <p:spPr/>
        <p:txBody>
          <a:bodyPr/>
          <a:lstStyle/>
          <a:p>
            <a:endParaRPr lang="es-CO"/>
          </a:p>
        </p:txBody>
      </p:sp>
      <p:sp>
        <p:nvSpPr>
          <p:cNvPr id="4" name="Slide Number Placeholder 3"/>
          <p:cNvSpPr>
            <a:spLocks noGrp="1"/>
          </p:cNvSpPr>
          <p:nvPr>
            <p:ph type="sldNum" sz="quarter" idx="12"/>
          </p:nvPr>
        </p:nvSpPr>
        <p:spPr/>
        <p:txBody>
          <a:bodyPr/>
          <a:lstStyle/>
          <a:p>
            <a:fld id="{EB9AFC6F-5320-48D2-B95C-F88F3308DCD5}" type="slidenum">
              <a:rPr lang="es-CO" smtClean="0"/>
              <a:t>‹Nº›</a:t>
            </a:fld>
            <a:endParaRPr lang="es-CO"/>
          </a:p>
        </p:txBody>
      </p:sp>
    </p:spTree>
    <p:extLst>
      <p:ext uri="{BB962C8B-B14F-4D97-AF65-F5344CB8AC3E}">
        <p14:creationId xmlns:p14="http://schemas.microsoft.com/office/powerpoint/2010/main" val="9770984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B23577A-C908-4E33-8098-14F046B6A130}" type="datetimeFigureOut">
              <a:rPr lang="es-CO" smtClean="0"/>
              <a:t>14/06/2026</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EB9AFC6F-5320-48D2-B95C-F88F3308DCD5}" type="slidenum">
              <a:rPr lang="es-CO" smtClean="0"/>
              <a:t>‹Nº›</a:t>
            </a:fld>
            <a:endParaRPr lang="es-CO"/>
          </a:p>
        </p:txBody>
      </p:sp>
    </p:spTree>
    <p:extLst>
      <p:ext uri="{BB962C8B-B14F-4D97-AF65-F5344CB8AC3E}">
        <p14:creationId xmlns:p14="http://schemas.microsoft.com/office/powerpoint/2010/main" val="30265529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B23577A-C908-4E33-8098-14F046B6A130}" type="datetimeFigureOut">
              <a:rPr lang="es-CO" smtClean="0"/>
              <a:t>14/06/2026</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EB9AFC6F-5320-48D2-B95C-F88F3308DCD5}" type="slidenum">
              <a:rPr lang="es-CO" smtClean="0"/>
              <a:t>‹Nº›</a:t>
            </a:fld>
            <a:endParaRPr lang="es-CO"/>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604887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B23577A-C908-4E33-8098-14F046B6A130}" type="datetimeFigureOut">
              <a:rPr lang="es-CO" smtClean="0"/>
              <a:t>14/06/2026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EB9AFC6F-5320-48D2-B95C-F88F3308DCD5}" type="slidenum">
              <a:rPr lang="es-CO" smtClean="0"/>
              <a:t>‹Nº›</a:t>
            </a:fld>
            <a:endParaRPr lang="es-CO"/>
          </a:p>
        </p:txBody>
      </p:sp>
    </p:spTree>
    <p:extLst>
      <p:ext uri="{BB962C8B-B14F-4D97-AF65-F5344CB8AC3E}">
        <p14:creationId xmlns:p14="http://schemas.microsoft.com/office/powerpoint/2010/main" val="27596901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B23577A-C908-4E33-8098-14F046B6A130}" type="datetimeFigureOut">
              <a:rPr lang="es-CO" smtClean="0"/>
              <a:t>14/06/2026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EB9AFC6F-5320-48D2-B95C-F88F3308DCD5}" type="slidenum">
              <a:rPr lang="es-CO" smtClean="0"/>
              <a:t>‹Nº›</a:t>
            </a:fld>
            <a:endParaRPr lang="es-CO"/>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612689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946167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4B23577A-C908-4E33-8098-14F046B6A130}" type="datetimeFigureOut">
              <a:rPr lang="es-CO" smtClean="0"/>
              <a:t>14/06/2026</a:t>
            </a:fld>
            <a:endParaRPr lang="es-CO"/>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s-CO"/>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EB9AFC6F-5320-48D2-B95C-F88F3308DCD5}" type="slidenum">
              <a:rPr lang="es-CO" smtClean="0"/>
              <a:t>‹Nº›</a:t>
            </a:fld>
            <a:endParaRPr lang="es-CO"/>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96461009"/>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hape 10"/>
          <p:cNvSpPr/>
          <p:nvPr/>
        </p:nvSpPr>
        <p:spPr>
          <a:xfrm>
            <a:off x="670560" y="6248400"/>
            <a:ext cx="10850880" cy="0"/>
          </a:xfrm>
          <a:prstGeom prst="line">
            <a:avLst/>
          </a:prstGeom>
          <a:noFill/>
          <a:ln w="9525">
            <a:solidFill>
              <a:srgbClr val="DDDDDD"/>
            </a:solidFill>
            <a:prstDash val="solid"/>
          </a:ln>
        </p:spPr>
        <p:txBody>
          <a:bodyPr/>
          <a:lstStyle/>
          <a:p>
            <a:endParaRPr lang="es-CO" sz="2400"/>
          </a:p>
        </p:txBody>
      </p:sp>
      <p:sp>
        <p:nvSpPr>
          <p:cNvPr id="13" name="Text 11"/>
          <p:cNvSpPr/>
          <p:nvPr/>
        </p:nvSpPr>
        <p:spPr>
          <a:xfrm>
            <a:off x="365760" y="6321552"/>
            <a:ext cx="2255520" cy="414528"/>
          </a:xfrm>
          <a:prstGeom prst="rect">
            <a:avLst/>
          </a:prstGeom>
          <a:noFill/>
          <a:ln/>
        </p:spPr>
        <p:txBody>
          <a:bodyPr wrap="square" lIns="0" tIns="0" rIns="0" bIns="0" rtlCol="0" anchor="ctr"/>
          <a:lstStyle/>
          <a:p>
            <a:r>
              <a:rPr lang="en-US" sz="1133" dirty="0">
                <a:solidFill>
                  <a:srgbClr val="888888"/>
                </a:solidFill>
                <a:latin typeface="Calibri" pitchFamily="34" charset="0"/>
                <a:ea typeface="Calibri" pitchFamily="34" charset="-122"/>
                <a:cs typeface="Calibri" pitchFamily="34" charset="-120"/>
              </a:rPr>
              <a:t>1. Motivation</a:t>
            </a:r>
            <a:endParaRPr lang="en-US" sz="1133" dirty="0"/>
          </a:p>
        </p:txBody>
      </p:sp>
      <p:sp>
        <p:nvSpPr>
          <p:cNvPr id="14" name="Text 12"/>
          <p:cNvSpPr/>
          <p:nvPr/>
        </p:nvSpPr>
        <p:spPr>
          <a:xfrm>
            <a:off x="2657856" y="6321552"/>
            <a:ext cx="2255520" cy="414528"/>
          </a:xfrm>
          <a:prstGeom prst="rect">
            <a:avLst/>
          </a:prstGeom>
          <a:noFill/>
          <a:ln/>
        </p:spPr>
        <p:txBody>
          <a:bodyPr wrap="square" lIns="0" tIns="0" rIns="0" bIns="0" rtlCol="0" anchor="ctr"/>
          <a:lstStyle/>
          <a:p>
            <a:r>
              <a:rPr lang="en-US" sz="1133" dirty="0">
                <a:solidFill>
                  <a:srgbClr val="888888"/>
                </a:solidFill>
                <a:latin typeface="Calibri" pitchFamily="34" charset="0"/>
                <a:ea typeface="Calibri" pitchFamily="34" charset="-122"/>
                <a:cs typeface="Calibri" pitchFamily="34" charset="-120"/>
              </a:rPr>
              <a:t>2. Context</a:t>
            </a:r>
            <a:endParaRPr lang="en-US" sz="1133" dirty="0"/>
          </a:p>
        </p:txBody>
      </p:sp>
      <p:sp>
        <p:nvSpPr>
          <p:cNvPr id="15" name="Text 13"/>
          <p:cNvSpPr/>
          <p:nvPr/>
        </p:nvSpPr>
        <p:spPr>
          <a:xfrm>
            <a:off x="4949952" y="6321552"/>
            <a:ext cx="2255520" cy="414528"/>
          </a:xfrm>
          <a:prstGeom prst="rect">
            <a:avLst/>
          </a:prstGeom>
          <a:noFill/>
          <a:ln/>
        </p:spPr>
        <p:txBody>
          <a:bodyPr wrap="square" lIns="0" tIns="0" rIns="0" bIns="0" rtlCol="0" anchor="ctr"/>
          <a:lstStyle/>
          <a:p>
            <a:r>
              <a:rPr lang="en-US" sz="1133" dirty="0">
                <a:solidFill>
                  <a:srgbClr val="888888"/>
                </a:solidFill>
                <a:latin typeface="Calibri" pitchFamily="34" charset="0"/>
                <a:ea typeface="Calibri" pitchFamily="34" charset="-122"/>
                <a:cs typeface="Calibri" pitchFamily="34" charset="-120"/>
              </a:rPr>
              <a:t>3. Research Design</a:t>
            </a:r>
            <a:endParaRPr lang="en-US" sz="1133" dirty="0"/>
          </a:p>
        </p:txBody>
      </p:sp>
      <p:sp>
        <p:nvSpPr>
          <p:cNvPr id="16" name="Text 14"/>
          <p:cNvSpPr/>
          <p:nvPr/>
        </p:nvSpPr>
        <p:spPr>
          <a:xfrm>
            <a:off x="7242048" y="6321552"/>
            <a:ext cx="2255520" cy="414528"/>
          </a:xfrm>
          <a:prstGeom prst="rect">
            <a:avLst/>
          </a:prstGeom>
          <a:noFill/>
          <a:ln/>
        </p:spPr>
        <p:txBody>
          <a:bodyPr wrap="square" lIns="0" tIns="0" rIns="0" bIns="0" rtlCol="0" anchor="ctr"/>
          <a:lstStyle/>
          <a:p>
            <a:r>
              <a:rPr lang="en-US" sz="1133" dirty="0">
                <a:solidFill>
                  <a:srgbClr val="888888"/>
                </a:solidFill>
                <a:latin typeface="Calibri" pitchFamily="34" charset="0"/>
                <a:ea typeface="Calibri" pitchFamily="34" charset="-122"/>
                <a:cs typeface="Calibri" pitchFamily="34" charset="-120"/>
              </a:rPr>
              <a:t>4. Challenges and limitations</a:t>
            </a:r>
            <a:endParaRPr lang="en-US" sz="1133" dirty="0"/>
          </a:p>
        </p:txBody>
      </p:sp>
      <p:sp>
        <p:nvSpPr>
          <p:cNvPr id="17" name="Text 15"/>
          <p:cNvSpPr/>
          <p:nvPr/>
        </p:nvSpPr>
        <p:spPr>
          <a:xfrm>
            <a:off x="9534144" y="6321552"/>
            <a:ext cx="2255520" cy="414528"/>
          </a:xfrm>
          <a:prstGeom prst="rect">
            <a:avLst/>
          </a:prstGeom>
          <a:noFill/>
          <a:ln/>
        </p:spPr>
        <p:txBody>
          <a:bodyPr wrap="square" lIns="0" tIns="0" rIns="0" bIns="0" rtlCol="0" anchor="ctr"/>
          <a:lstStyle/>
          <a:p>
            <a:r>
              <a:rPr lang="en-US" sz="1133" dirty="0">
                <a:solidFill>
                  <a:srgbClr val="888888"/>
                </a:solidFill>
                <a:latin typeface="Calibri" pitchFamily="34" charset="0"/>
                <a:ea typeface="Calibri" pitchFamily="34" charset="-122"/>
                <a:cs typeface="Calibri" pitchFamily="34" charset="-120"/>
              </a:rPr>
              <a:t>5. Next Steps</a:t>
            </a:r>
            <a:endParaRPr lang="en-US" sz="1133" dirty="0"/>
          </a:p>
        </p:txBody>
      </p:sp>
      <p:sp>
        <p:nvSpPr>
          <p:cNvPr id="18" name="Text 0">
            <a:extLst>
              <a:ext uri="{FF2B5EF4-FFF2-40B4-BE49-F238E27FC236}">
                <a16:creationId xmlns:a16="http://schemas.microsoft.com/office/drawing/2014/main" id="{FCE52A27-1830-2A74-4481-680E72E956F1}"/>
              </a:ext>
            </a:extLst>
          </p:cNvPr>
          <p:cNvSpPr/>
          <p:nvPr/>
        </p:nvSpPr>
        <p:spPr>
          <a:xfrm>
            <a:off x="670560" y="1844431"/>
            <a:ext cx="10274104" cy="2316480"/>
          </a:xfrm>
          <a:prstGeom prst="rect">
            <a:avLst/>
          </a:prstGeom>
          <a:noFill/>
          <a:ln/>
        </p:spPr>
        <p:txBody>
          <a:bodyPr wrap="square" lIns="0" tIns="0" rIns="0" bIns="0" rtlCol="0" anchor="t"/>
          <a:lstStyle/>
          <a:p>
            <a:r>
              <a:rPr lang="en-US" sz="4800" b="1" dirty="0">
                <a:solidFill>
                  <a:srgbClr val="002060"/>
                </a:solidFill>
                <a:latin typeface="Calibri" pitchFamily="34" charset="0"/>
                <a:ea typeface="Calibri" pitchFamily="34" charset="-122"/>
                <a:cs typeface="Calibri" pitchFamily="34" charset="-120"/>
              </a:rPr>
              <a:t>Violence Reduction</a:t>
            </a:r>
            <a:endParaRPr lang="en-US" sz="4800" dirty="0">
              <a:solidFill>
                <a:srgbClr val="002060"/>
              </a:solidFill>
            </a:endParaRPr>
          </a:p>
          <a:p>
            <a:r>
              <a:rPr lang="en-US" sz="4800" b="1" dirty="0">
                <a:solidFill>
                  <a:srgbClr val="002060"/>
                </a:solidFill>
                <a:latin typeface="Calibri" pitchFamily="34" charset="0"/>
                <a:ea typeface="Calibri" pitchFamily="34" charset="-122"/>
                <a:cs typeface="Calibri" pitchFamily="34" charset="-120"/>
              </a:rPr>
              <a:t>and Access to Higher Education</a:t>
            </a:r>
            <a:endParaRPr lang="en-US" sz="4800" dirty="0">
              <a:solidFill>
                <a:srgbClr val="002060"/>
              </a:solidFill>
            </a:endParaRPr>
          </a:p>
        </p:txBody>
      </p:sp>
      <p:sp>
        <p:nvSpPr>
          <p:cNvPr id="19" name="Text 1">
            <a:extLst>
              <a:ext uri="{FF2B5EF4-FFF2-40B4-BE49-F238E27FC236}">
                <a16:creationId xmlns:a16="http://schemas.microsoft.com/office/drawing/2014/main" id="{770CE2E2-3444-45E2-5E11-1B9F80B09D7C}"/>
              </a:ext>
            </a:extLst>
          </p:cNvPr>
          <p:cNvSpPr/>
          <p:nvPr/>
        </p:nvSpPr>
        <p:spPr>
          <a:xfrm>
            <a:off x="670560" y="3311536"/>
            <a:ext cx="7071360" cy="487680"/>
          </a:xfrm>
          <a:prstGeom prst="rect">
            <a:avLst/>
          </a:prstGeom>
          <a:noFill/>
          <a:ln/>
        </p:spPr>
        <p:txBody>
          <a:bodyPr wrap="square" lIns="0" tIns="0" rIns="0" bIns="0" rtlCol="0" anchor="ctr"/>
          <a:lstStyle/>
          <a:p>
            <a:r>
              <a:rPr lang="en-US" sz="2667" dirty="0">
                <a:latin typeface="Calibri" pitchFamily="34" charset="0"/>
                <a:ea typeface="Calibri" pitchFamily="34" charset="-122"/>
                <a:cs typeface="Calibri" pitchFamily="34" charset="-120"/>
              </a:rPr>
              <a:t>Post-Conflict Evidence from Colombia</a:t>
            </a:r>
            <a:endParaRPr lang="en-US" sz="2667" dirty="0"/>
          </a:p>
        </p:txBody>
      </p:sp>
      <p:sp>
        <p:nvSpPr>
          <p:cNvPr id="20" name="Text 2">
            <a:extLst>
              <a:ext uri="{FF2B5EF4-FFF2-40B4-BE49-F238E27FC236}">
                <a16:creationId xmlns:a16="http://schemas.microsoft.com/office/drawing/2014/main" id="{1CF33A31-ABD3-8150-E7CE-7149ED5F6C3F}"/>
              </a:ext>
            </a:extLst>
          </p:cNvPr>
          <p:cNvSpPr/>
          <p:nvPr/>
        </p:nvSpPr>
        <p:spPr>
          <a:xfrm>
            <a:off x="670560" y="4079631"/>
            <a:ext cx="10850880" cy="1940168"/>
          </a:xfrm>
          <a:prstGeom prst="rect">
            <a:avLst/>
          </a:prstGeom>
          <a:noFill/>
          <a:ln/>
        </p:spPr>
        <p:txBody>
          <a:bodyPr wrap="square" lIns="0" tIns="0" rIns="0" bIns="0" rtlCol="0" anchor="ctr"/>
          <a:lstStyle/>
          <a:p>
            <a:endParaRPr lang="en-US" sz="1467" dirty="0">
              <a:solidFill>
                <a:srgbClr val="888888"/>
              </a:solidFill>
              <a:latin typeface="Calibri" pitchFamily="34" charset="0"/>
              <a:ea typeface="Calibri" pitchFamily="34" charset="-122"/>
              <a:cs typeface="Calibri" pitchFamily="34" charset="-120"/>
            </a:endParaRPr>
          </a:p>
          <a:p>
            <a:endParaRPr lang="en-US" sz="1467" dirty="0">
              <a:solidFill>
                <a:srgbClr val="888888"/>
              </a:solidFill>
              <a:latin typeface="Calibri" pitchFamily="34" charset="0"/>
              <a:ea typeface="Calibri" pitchFamily="34" charset="-122"/>
              <a:cs typeface="Calibri" pitchFamily="34" charset="-120"/>
            </a:endParaRPr>
          </a:p>
          <a:p>
            <a:r>
              <a:rPr lang="en-US" sz="1467" dirty="0">
                <a:solidFill>
                  <a:srgbClr val="888888"/>
                </a:solidFill>
                <a:latin typeface="Calibri" pitchFamily="34" charset="0"/>
                <a:ea typeface="Calibri" pitchFamily="34" charset="-122"/>
                <a:cs typeface="Calibri" pitchFamily="34" charset="-120"/>
              </a:rPr>
              <a:t>Juliana Aragon Acevedo </a:t>
            </a:r>
          </a:p>
          <a:p>
            <a:endParaRPr lang="en-US" sz="1467" dirty="0">
              <a:solidFill>
                <a:srgbClr val="888888"/>
              </a:solidFill>
              <a:latin typeface="Calibri" pitchFamily="34" charset="0"/>
              <a:ea typeface="Calibri" pitchFamily="34" charset="-122"/>
              <a:cs typeface="Calibri" pitchFamily="34" charset="-120"/>
            </a:endParaRPr>
          </a:p>
          <a:p>
            <a:r>
              <a:rPr lang="en-US" sz="1467" dirty="0">
                <a:solidFill>
                  <a:srgbClr val="888888"/>
                </a:solidFill>
                <a:latin typeface="Calibri" pitchFamily="34" charset="0"/>
                <a:ea typeface="Calibri" pitchFamily="34" charset="-122"/>
                <a:cs typeface="Calibri" pitchFamily="34" charset="-120"/>
              </a:rPr>
              <a:t>Capstone advisor: Eleanor Power</a:t>
            </a:r>
          </a:p>
          <a:p>
            <a:endParaRPr lang="en-US" sz="1467" dirty="0">
              <a:solidFill>
                <a:srgbClr val="888888"/>
              </a:solidFill>
              <a:latin typeface="Calibri" pitchFamily="34" charset="0"/>
              <a:ea typeface="Calibri" pitchFamily="34" charset="-122"/>
              <a:cs typeface="Calibri" pitchFamily="34" charset="-120"/>
            </a:endParaRPr>
          </a:p>
          <a:p>
            <a:r>
              <a:rPr lang="en-US" sz="1467" dirty="0">
                <a:solidFill>
                  <a:srgbClr val="888888"/>
                </a:solidFill>
                <a:latin typeface="Calibri" pitchFamily="34" charset="0"/>
                <a:ea typeface="Calibri" pitchFamily="34" charset="-122"/>
                <a:cs typeface="Calibri" pitchFamily="34" charset="-120"/>
              </a:rPr>
              <a:t>MSc. ASDS – Methodology Department LSE </a:t>
            </a:r>
          </a:p>
          <a:p>
            <a:r>
              <a:rPr lang="en-US" sz="1467" dirty="0">
                <a:solidFill>
                  <a:srgbClr val="888888"/>
                </a:solidFill>
                <a:latin typeface="Calibri" pitchFamily="34" charset="0"/>
                <a:ea typeface="Calibri" pitchFamily="34" charset="-122"/>
                <a:cs typeface="Calibri" pitchFamily="34" charset="-120"/>
              </a:rPr>
              <a:t>May 8</a:t>
            </a:r>
            <a:r>
              <a:rPr lang="en-US" sz="1467" baseline="30000" dirty="0">
                <a:solidFill>
                  <a:srgbClr val="888888"/>
                </a:solidFill>
                <a:latin typeface="Calibri" pitchFamily="34" charset="0"/>
                <a:ea typeface="Calibri" pitchFamily="34" charset="-122"/>
                <a:cs typeface="Calibri" pitchFamily="34" charset="-120"/>
              </a:rPr>
              <a:t>th</a:t>
            </a:r>
            <a:r>
              <a:rPr lang="en-US" sz="1467" dirty="0">
                <a:solidFill>
                  <a:srgbClr val="888888"/>
                </a:solidFill>
                <a:latin typeface="Calibri" pitchFamily="34" charset="0"/>
                <a:ea typeface="Calibri" pitchFamily="34" charset="-122"/>
                <a:cs typeface="Calibri" pitchFamily="34" charset="-120"/>
              </a:rPr>
              <a:t>, 2026</a:t>
            </a:r>
            <a:endParaRPr lang="en-US" sz="1467"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53440" y="341376"/>
            <a:ext cx="10546080" cy="633984"/>
          </a:xfrm>
          <a:prstGeom prst="rect">
            <a:avLst/>
          </a:prstGeom>
          <a:noFill/>
          <a:ln/>
        </p:spPr>
        <p:txBody>
          <a:bodyPr wrap="square" lIns="0" tIns="0" rIns="0" bIns="0" rtlCol="0" anchor="ctr"/>
          <a:lstStyle/>
          <a:p>
            <a:r>
              <a:rPr lang="en-US" sz="3733" b="1" dirty="0">
                <a:solidFill>
                  <a:srgbClr val="002060"/>
                </a:solidFill>
                <a:latin typeface="Calibri" pitchFamily="34" charset="0"/>
                <a:ea typeface="Calibri" pitchFamily="34" charset="-122"/>
                <a:cs typeface="Calibri" pitchFamily="34" charset="-120"/>
              </a:rPr>
              <a:t>Motivation</a:t>
            </a:r>
            <a:endParaRPr lang="en-US" sz="3733" dirty="0">
              <a:solidFill>
                <a:srgbClr val="002060"/>
              </a:solidFill>
            </a:endParaRPr>
          </a:p>
        </p:txBody>
      </p:sp>
      <p:sp>
        <p:nvSpPr>
          <p:cNvPr id="3" name="Shape 1"/>
          <p:cNvSpPr/>
          <p:nvPr/>
        </p:nvSpPr>
        <p:spPr>
          <a:xfrm>
            <a:off x="670560" y="1024128"/>
            <a:ext cx="10850880" cy="0"/>
          </a:xfrm>
          <a:prstGeom prst="line">
            <a:avLst/>
          </a:prstGeom>
          <a:noFill/>
          <a:ln w="9525">
            <a:solidFill>
              <a:srgbClr val="DDDDDD"/>
            </a:solidFill>
            <a:prstDash val="solid"/>
          </a:ln>
        </p:spPr>
        <p:txBody>
          <a:bodyPr/>
          <a:lstStyle/>
          <a:p>
            <a:endParaRPr lang="es-CO" sz="2400"/>
          </a:p>
        </p:txBody>
      </p:sp>
      <p:sp>
        <p:nvSpPr>
          <p:cNvPr id="4" name="Text 2"/>
          <p:cNvSpPr/>
          <p:nvPr/>
        </p:nvSpPr>
        <p:spPr>
          <a:xfrm>
            <a:off x="914401" y="1219200"/>
            <a:ext cx="4937760" cy="268224"/>
          </a:xfrm>
          <a:prstGeom prst="rect">
            <a:avLst/>
          </a:prstGeom>
          <a:noFill/>
          <a:ln/>
        </p:spPr>
        <p:txBody>
          <a:bodyPr wrap="square" lIns="0" tIns="0" rIns="0" bIns="0" rtlCol="0" anchor="ctr"/>
          <a:lstStyle/>
          <a:p>
            <a:r>
              <a:rPr lang="en-US" sz="1200" b="1" kern="0" spc="133" dirty="0">
                <a:solidFill>
                  <a:srgbClr val="888888"/>
                </a:solidFill>
                <a:latin typeface="Calibri" pitchFamily="34" charset="0"/>
                <a:ea typeface="Calibri" pitchFamily="34" charset="-122"/>
                <a:cs typeface="Calibri" pitchFamily="34" charset="-120"/>
              </a:rPr>
              <a:t>THEORETICAL FRAMEWORK AND GAP</a:t>
            </a:r>
            <a:endParaRPr lang="en-US" sz="1200" dirty="0"/>
          </a:p>
        </p:txBody>
      </p:sp>
      <p:sp>
        <p:nvSpPr>
          <p:cNvPr id="5" name="Shape 3"/>
          <p:cNvSpPr/>
          <p:nvPr/>
        </p:nvSpPr>
        <p:spPr>
          <a:xfrm>
            <a:off x="731521" y="2039820"/>
            <a:ext cx="0" cy="1048512"/>
          </a:xfrm>
          <a:prstGeom prst="line">
            <a:avLst/>
          </a:prstGeom>
          <a:noFill/>
          <a:ln w="9525">
            <a:solidFill>
              <a:srgbClr val="DDDDDD"/>
            </a:solidFill>
            <a:prstDash val="solid"/>
          </a:ln>
        </p:spPr>
        <p:txBody>
          <a:bodyPr/>
          <a:lstStyle/>
          <a:p>
            <a:endParaRPr lang="es-CO" sz="2400"/>
          </a:p>
        </p:txBody>
      </p:sp>
      <p:sp>
        <p:nvSpPr>
          <p:cNvPr id="6" name="Text 4"/>
          <p:cNvSpPr/>
          <p:nvPr/>
        </p:nvSpPr>
        <p:spPr>
          <a:xfrm>
            <a:off x="914401" y="2039820"/>
            <a:ext cx="4876800" cy="341376"/>
          </a:xfrm>
          <a:prstGeom prst="rect">
            <a:avLst/>
          </a:prstGeom>
          <a:noFill/>
          <a:ln/>
        </p:spPr>
        <p:txBody>
          <a:bodyPr wrap="square" lIns="0" tIns="0" rIns="0" bIns="0" rtlCol="0" anchor="ctr"/>
          <a:lstStyle/>
          <a:p>
            <a:r>
              <a:rPr lang="en-US" sz="1733" b="1" dirty="0">
                <a:solidFill>
                  <a:srgbClr val="00B0F0"/>
                </a:solidFill>
                <a:latin typeface="Calibri" pitchFamily="34" charset="0"/>
                <a:ea typeface="Calibri" pitchFamily="34" charset="-122"/>
                <a:cs typeface="Calibri" pitchFamily="34" charset="-120"/>
              </a:rPr>
              <a:t>Human capital theory</a:t>
            </a:r>
            <a:endParaRPr lang="en-US" sz="1733" dirty="0">
              <a:solidFill>
                <a:srgbClr val="00B0F0"/>
              </a:solidFill>
            </a:endParaRPr>
          </a:p>
        </p:txBody>
      </p:sp>
      <p:sp>
        <p:nvSpPr>
          <p:cNvPr id="7" name="Text 5"/>
          <p:cNvSpPr/>
          <p:nvPr/>
        </p:nvSpPr>
        <p:spPr>
          <a:xfrm>
            <a:off x="914401" y="2405580"/>
            <a:ext cx="4876800" cy="707136"/>
          </a:xfrm>
          <a:prstGeom prst="rect">
            <a:avLst/>
          </a:prstGeom>
          <a:noFill/>
          <a:ln/>
        </p:spPr>
        <p:txBody>
          <a:bodyPr wrap="square" lIns="0" tIns="0" rIns="0" bIns="0" rtlCol="0" anchor="t"/>
          <a:lstStyle/>
          <a:p>
            <a:r>
              <a:rPr lang="en-US" sz="1400" dirty="0">
                <a:solidFill>
                  <a:srgbClr val="333333"/>
                </a:solidFill>
                <a:latin typeface="Calibri" pitchFamily="34" charset="0"/>
                <a:ea typeface="Calibri" pitchFamily="34" charset="-122"/>
                <a:cs typeface="Calibri" pitchFamily="34" charset="-120"/>
              </a:rPr>
              <a:t>Education raises income and productivity, promoting development and social mobility. Returns to higher education are significant and grow over time (Becker 2002; Psacharopoulos &amp; Patrinos 2018).</a:t>
            </a:r>
            <a:endParaRPr lang="en-US" sz="1400" dirty="0"/>
          </a:p>
        </p:txBody>
      </p:sp>
      <p:sp>
        <p:nvSpPr>
          <p:cNvPr id="8" name="Shape 6"/>
          <p:cNvSpPr/>
          <p:nvPr/>
        </p:nvSpPr>
        <p:spPr>
          <a:xfrm>
            <a:off x="731521" y="3259020"/>
            <a:ext cx="0" cy="1048512"/>
          </a:xfrm>
          <a:prstGeom prst="line">
            <a:avLst/>
          </a:prstGeom>
          <a:noFill/>
          <a:ln w="9525">
            <a:solidFill>
              <a:srgbClr val="DDDDDD"/>
            </a:solidFill>
            <a:prstDash val="solid"/>
          </a:ln>
        </p:spPr>
        <p:txBody>
          <a:bodyPr/>
          <a:lstStyle/>
          <a:p>
            <a:endParaRPr lang="es-CO" sz="2400"/>
          </a:p>
        </p:txBody>
      </p:sp>
      <p:sp>
        <p:nvSpPr>
          <p:cNvPr id="9" name="Text 7"/>
          <p:cNvSpPr/>
          <p:nvPr/>
        </p:nvSpPr>
        <p:spPr>
          <a:xfrm>
            <a:off x="914401" y="3259020"/>
            <a:ext cx="4876800" cy="341376"/>
          </a:xfrm>
          <a:prstGeom prst="rect">
            <a:avLst/>
          </a:prstGeom>
          <a:noFill/>
          <a:ln/>
        </p:spPr>
        <p:txBody>
          <a:bodyPr wrap="square" lIns="0" tIns="0" rIns="0" bIns="0" rtlCol="0" anchor="ctr"/>
          <a:lstStyle/>
          <a:p>
            <a:r>
              <a:rPr lang="en-US" sz="1733" b="1" dirty="0">
                <a:solidFill>
                  <a:srgbClr val="00B0F0"/>
                </a:solidFill>
                <a:latin typeface="Calibri" pitchFamily="34" charset="0"/>
                <a:ea typeface="Calibri" pitchFamily="34" charset="-122"/>
                <a:cs typeface="Calibri" pitchFamily="34" charset="-120"/>
              </a:rPr>
              <a:t>Conflict disrupts human capital accumulation</a:t>
            </a:r>
          </a:p>
        </p:txBody>
      </p:sp>
      <p:sp>
        <p:nvSpPr>
          <p:cNvPr id="10" name="Text 8"/>
          <p:cNvSpPr/>
          <p:nvPr/>
        </p:nvSpPr>
        <p:spPr>
          <a:xfrm>
            <a:off x="914401" y="3624780"/>
            <a:ext cx="4876800" cy="707136"/>
          </a:xfrm>
          <a:prstGeom prst="rect">
            <a:avLst/>
          </a:prstGeom>
          <a:noFill/>
          <a:ln/>
        </p:spPr>
        <p:txBody>
          <a:bodyPr wrap="square" lIns="0" tIns="0" rIns="0" bIns="0" rtlCol="0" anchor="t"/>
          <a:lstStyle/>
          <a:p>
            <a:r>
              <a:rPr lang="en-US" sz="1400" dirty="0">
                <a:solidFill>
                  <a:srgbClr val="333333"/>
                </a:solidFill>
                <a:latin typeface="Calibri" pitchFamily="34" charset="0"/>
                <a:ea typeface="Calibri" pitchFamily="34" charset="-122"/>
                <a:cs typeface="Calibri" pitchFamily="34" charset="-120"/>
              </a:rPr>
              <a:t>Armed conflict reduces enrolment, increases dropout, and lowers performance — documented in Iraq, Bosnia, Peru, Rwanda, and Colombia (Jürges et al. 2022; Soler 2016; Fergusson et al. 2020).</a:t>
            </a:r>
            <a:endParaRPr lang="en-US" sz="1400" dirty="0"/>
          </a:p>
        </p:txBody>
      </p:sp>
      <p:sp>
        <p:nvSpPr>
          <p:cNvPr id="11" name="Shape 9"/>
          <p:cNvSpPr/>
          <p:nvPr/>
        </p:nvSpPr>
        <p:spPr>
          <a:xfrm>
            <a:off x="731521" y="4478220"/>
            <a:ext cx="0" cy="1048512"/>
          </a:xfrm>
          <a:prstGeom prst="line">
            <a:avLst/>
          </a:prstGeom>
          <a:noFill/>
          <a:ln w="9525">
            <a:solidFill>
              <a:srgbClr val="DDDDDD"/>
            </a:solidFill>
            <a:prstDash val="solid"/>
          </a:ln>
        </p:spPr>
        <p:txBody>
          <a:bodyPr/>
          <a:lstStyle/>
          <a:p>
            <a:endParaRPr lang="es-CO" sz="2400"/>
          </a:p>
        </p:txBody>
      </p:sp>
      <p:sp>
        <p:nvSpPr>
          <p:cNvPr id="12" name="Text 10"/>
          <p:cNvSpPr/>
          <p:nvPr/>
        </p:nvSpPr>
        <p:spPr>
          <a:xfrm>
            <a:off x="914401" y="4478220"/>
            <a:ext cx="4876800" cy="341376"/>
          </a:xfrm>
          <a:prstGeom prst="rect">
            <a:avLst/>
          </a:prstGeom>
          <a:noFill/>
          <a:ln/>
        </p:spPr>
        <p:txBody>
          <a:bodyPr wrap="square" lIns="0" tIns="0" rIns="0" bIns="0" rtlCol="0" anchor="ctr"/>
          <a:lstStyle/>
          <a:p>
            <a:r>
              <a:rPr lang="en-US" sz="1733" b="1" dirty="0">
                <a:solidFill>
                  <a:srgbClr val="00B0F0"/>
                </a:solidFill>
                <a:latin typeface="Calibri" pitchFamily="34" charset="0"/>
                <a:ea typeface="Calibri" pitchFamily="34" charset="-122"/>
                <a:cs typeface="Calibri" pitchFamily="34" charset="-120"/>
              </a:rPr>
              <a:t>Violence reduction — unknown effect on higher education</a:t>
            </a:r>
            <a:endParaRPr lang="en-US" sz="1733" dirty="0">
              <a:solidFill>
                <a:srgbClr val="00B0F0"/>
              </a:solidFill>
            </a:endParaRPr>
          </a:p>
        </p:txBody>
      </p:sp>
      <p:sp>
        <p:nvSpPr>
          <p:cNvPr id="13" name="Text 11"/>
          <p:cNvSpPr/>
          <p:nvPr/>
        </p:nvSpPr>
        <p:spPr>
          <a:xfrm>
            <a:off x="914401" y="4932469"/>
            <a:ext cx="4876800" cy="707136"/>
          </a:xfrm>
          <a:prstGeom prst="rect">
            <a:avLst/>
          </a:prstGeom>
          <a:noFill/>
          <a:ln/>
        </p:spPr>
        <p:txBody>
          <a:bodyPr wrap="square" lIns="0" tIns="0" rIns="0" bIns="0" rtlCol="0" anchor="t"/>
          <a:lstStyle/>
          <a:p>
            <a:r>
              <a:rPr lang="en-US" sz="1400" dirty="0">
                <a:solidFill>
                  <a:srgbClr val="333333"/>
                </a:solidFill>
                <a:latin typeface="Calibri" pitchFamily="34" charset="0"/>
                <a:ea typeface="Calibri" pitchFamily="34" charset="-122"/>
                <a:cs typeface="Calibri" pitchFamily="34" charset="-120"/>
              </a:rPr>
              <a:t>Prior work shows that peace can aid educational recovery at primary/secondary levels (Prem et al. 2023; Montaño-Bardales &amp; Palacios 2025), but no evidence exists for higher education.</a:t>
            </a:r>
            <a:endParaRPr lang="en-US" sz="1400" dirty="0"/>
          </a:p>
        </p:txBody>
      </p:sp>
      <p:sp>
        <p:nvSpPr>
          <p:cNvPr id="14" name="Shape 12"/>
          <p:cNvSpPr/>
          <p:nvPr/>
        </p:nvSpPr>
        <p:spPr>
          <a:xfrm>
            <a:off x="6096000" y="1050384"/>
            <a:ext cx="0" cy="5120640"/>
          </a:xfrm>
          <a:prstGeom prst="line">
            <a:avLst/>
          </a:prstGeom>
          <a:noFill/>
          <a:ln w="9525">
            <a:solidFill>
              <a:srgbClr val="DDDDDD"/>
            </a:solidFill>
            <a:prstDash val="solid"/>
          </a:ln>
        </p:spPr>
        <p:txBody>
          <a:bodyPr/>
          <a:lstStyle/>
          <a:p>
            <a:endParaRPr lang="es-CO" sz="2400"/>
          </a:p>
        </p:txBody>
      </p:sp>
      <p:sp>
        <p:nvSpPr>
          <p:cNvPr id="15" name="Text 13"/>
          <p:cNvSpPr/>
          <p:nvPr/>
        </p:nvSpPr>
        <p:spPr>
          <a:xfrm>
            <a:off x="6400800" y="1219200"/>
            <a:ext cx="5364480" cy="268224"/>
          </a:xfrm>
          <a:prstGeom prst="rect">
            <a:avLst/>
          </a:prstGeom>
          <a:noFill/>
          <a:ln/>
        </p:spPr>
        <p:txBody>
          <a:bodyPr wrap="square" lIns="0" tIns="0" rIns="0" bIns="0" rtlCol="0" anchor="ctr"/>
          <a:lstStyle/>
          <a:p>
            <a:r>
              <a:rPr lang="en-US" sz="1200" b="1" kern="0" spc="133" dirty="0">
                <a:solidFill>
                  <a:srgbClr val="888888"/>
                </a:solidFill>
                <a:latin typeface="Calibri" pitchFamily="34" charset="0"/>
                <a:ea typeface="Calibri" pitchFamily="34" charset="-122"/>
                <a:cs typeface="Calibri" pitchFamily="34" charset="-120"/>
              </a:rPr>
              <a:t>RESEARCH QUESTION</a:t>
            </a:r>
            <a:endParaRPr lang="en-US" sz="1200" dirty="0"/>
          </a:p>
        </p:txBody>
      </p:sp>
      <p:sp>
        <p:nvSpPr>
          <p:cNvPr id="16" name="Text 14"/>
          <p:cNvSpPr/>
          <p:nvPr/>
        </p:nvSpPr>
        <p:spPr>
          <a:xfrm>
            <a:off x="6264816" y="1696808"/>
            <a:ext cx="5439505" cy="877824"/>
          </a:xfrm>
          <a:prstGeom prst="rect">
            <a:avLst/>
          </a:prstGeom>
          <a:noFill/>
          <a:ln/>
        </p:spPr>
        <p:txBody>
          <a:bodyPr wrap="square" lIns="0" tIns="0" rIns="0" bIns="0" rtlCol="0" anchor="t"/>
          <a:lstStyle/>
          <a:p>
            <a:pPr algn="ctr"/>
            <a:r>
              <a:rPr lang="en-US" sz="1667" b="1" i="1" dirty="0">
                <a:solidFill>
                  <a:srgbClr val="002060"/>
                </a:solidFill>
                <a:latin typeface="Calibri" pitchFamily="34" charset="0"/>
                <a:ea typeface="Calibri" pitchFamily="34" charset="-122"/>
                <a:cs typeface="Calibri" pitchFamily="34" charset="-120"/>
              </a:rPr>
              <a:t>How does the reduction of violence following the Colombian peace agreement affect access to higher education in municipalities most exposed to FARC violence?</a:t>
            </a:r>
            <a:endParaRPr lang="en-US" sz="1667" dirty="0">
              <a:solidFill>
                <a:srgbClr val="002060"/>
              </a:solidFill>
            </a:endParaRPr>
          </a:p>
        </p:txBody>
      </p:sp>
      <p:sp>
        <p:nvSpPr>
          <p:cNvPr id="17" name="Shape 15"/>
          <p:cNvSpPr/>
          <p:nvPr/>
        </p:nvSpPr>
        <p:spPr>
          <a:xfrm>
            <a:off x="6400800" y="2790088"/>
            <a:ext cx="5303520" cy="0"/>
          </a:xfrm>
          <a:prstGeom prst="line">
            <a:avLst/>
          </a:prstGeom>
          <a:noFill/>
          <a:ln w="9525">
            <a:solidFill>
              <a:srgbClr val="DDDDDD"/>
            </a:solidFill>
            <a:prstDash val="solid"/>
          </a:ln>
        </p:spPr>
        <p:txBody>
          <a:bodyPr/>
          <a:lstStyle/>
          <a:p>
            <a:endParaRPr lang="es-CO" sz="2400"/>
          </a:p>
        </p:txBody>
      </p:sp>
      <p:sp>
        <p:nvSpPr>
          <p:cNvPr id="18" name="Text 16"/>
          <p:cNvSpPr/>
          <p:nvPr/>
        </p:nvSpPr>
        <p:spPr>
          <a:xfrm>
            <a:off x="6400800" y="3069335"/>
            <a:ext cx="5303520" cy="268224"/>
          </a:xfrm>
          <a:prstGeom prst="rect">
            <a:avLst/>
          </a:prstGeom>
          <a:noFill/>
          <a:ln/>
        </p:spPr>
        <p:txBody>
          <a:bodyPr wrap="square" lIns="0" tIns="0" rIns="0" bIns="0" rtlCol="0" anchor="ctr"/>
          <a:lstStyle/>
          <a:p>
            <a:r>
              <a:rPr lang="en-US" sz="1200" b="1" kern="0" spc="133" dirty="0">
                <a:solidFill>
                  <a:srgbClr val="888888"/>
                </a:solidFill>
                <a:latin typeface="Calibri" pitchFamily="34" charset="0"/>
                <a:ea typeface="Calibri" pitchFamily="34" charset="-122"/>
                <a:cs typeface="Calibri" pitchFamily="34" charset="-120"/>
              </a:rPr>
              <a:t>TWO PLAUSIBLE CAUSAL MECHANISMS</a:t>
            </a:r>
            <a:endParaRPr lang="en-US" sz="1200" dirty="0"/>
          </a:p>
        </p:txBody>
      </p:sp>
      <p:sp>
        <p:nvSpPr>
          <p:cNvPr id="19" name="Text 17"/>
          <p:cNvSpPr/>
          <p:nvPr/>
        </p:nvSpPr>
        <p:spPr>
          <a:xfrm>
            <a:off x="6400800" y="3624780"/>
            <a:ext cx="426720" cy="426720"/>
          </a:xfrm>
          <a:prstGeom prst="rect">
            <a:avLst/>
          </a:prstGeom>
          <a:noFill/>
          <a:ln/>
        </p:spPr>
        <p:txBody>
          <a:bodyPr wrap="square" lIns="0" tIns="0" rIns="0" bIns="0" rtlCol="0" anchor="ctr"/>
          <a:lstStyle/>
          <a:p>
            <a:r>
              <a:rPr lang="en-US" sz="2133" b="1" dirty="0">
                <a:solidFill>
                  <a:srgbClr val="DDDDDD"/>
                </a:solidFill>
                <a:latin typeface="Calibri" pitchFamily="34" charset="0"/>
                <a:ea typeface="Calibri" pitchFamily="34" charset="-122"/>
                <a:cs typeface="Calibri" pitchFamily="34" charset="-120"/>
              </a:rPr>
              <a:t>1</a:t>
            </a:r>
            <a:endParaRPr lang="en-US" sz="2133" dirty="0"/>
          </a:p>
        </p:txBody>
      </p:sp>
      <p:sp>
        <p:nvSpPr>
          <p:cNvPr id="20" name="Text 18"/>
          <p:cNvSpPr/>
          <p:nvPr/>
        </p:nvSpPr>
        <p:spPr>
          <a:xfrm>
            <a:off x="6827520" y="3624780"/>
            <a:ext cx="4815840" cy="341376"/>
          </a:xfrm>
          <a:prstGeom prst="rect">
            <a:avLst/>
          </a:prstGeom>
          <a:noFill/>
          <a:ln/>
        </p:spPr>
        <p:txBody>
          <a:bodyPr wrap="square" lIns="0" tIns="0" rIns="0" bIns="0" rtlCol="0" anchor="ctr"/>
          <a:lstStyle/>
          <a:p>
            <a:r>
              <a:rPr lang="en-US" sz="1733" b="1" dirty="0">
                <a:solidFill>
                  <a:srgbClr val="00B0F0"/>
                </a:solidFill>
                <a:latin typeface="Calibri" pitchFamily="34" charset="0"/>
                <a:ea typeface="Calibri" pitchFamily="34" charset="-122"/>
                <a:cs typeface="Calibri" pitchFamily="34" charset="-120"/>
              </a:rPr>
              <a:t>Security ↑</a:t>
            </a:r>
            <a:endParaRPr lang="en-US" sz="1733" dirty="0">
              <a:solidFill>
                <a:srgbClr val="00B0F0"/>
              </a:solidFill>
            </a:endParaRPr>
          </a:p>
        </p:txBody>
      </p:sp>
      <p:sp>
        <p:nvSpPr>
          <p:cNvPr id="21" name="Text 19"/>
          <p:cNvSpPr/>
          <p:nvPr/>
        </p:nvSpPr>
        <p:spPr>
          <a:xfrm>
            <a:off x="6827520" y="3990540"/>
            <a:ext cx="4815840" cy="560832"/>
          </a:xfrm>
          <a:prstGeom prst="rect">
            <a:avLst/>
          </a:prstGeom>
          <a:noFill/>
          <a:ln/>
        </p:spPr>
        <p:txBody>
          <a:bodyPr wrap="square" lIns="0" tIns="0" rIns="0" bIns="0" rtlCol="0" anchor="t"/>
          <a:lstStyle/>
          <a:p>
            <a:r>
              <a:rPr lang="en-US" sz="1400" dirty="0">
                <a:solidFill>
                  <a:srgbClr val="333333"/>
                </a:solidFill>
                <a:latin typeface="Calibri" pitchFamily="34" charset="0"/>
                <a:ea typeface="Calibri" pitchFamily="34" charset="-122"/>
                <a:cs typeface="Calibri" pitchFamily="34" charset="-120"/>
              </a:rPr>
              <a:t>Violence reduction allows youth to complete secondary school and physically access HE institutions (Peña &amp; Dorussen 2021).</a:t>
            </a:r>
            <a:endParaRPr lang="en-US" sz="1400" dirty="0"/>
          </a:p>
        </p:txBody>
      </p:sp>
      <p:sp>
        <p:nvSpPr>
          <p:cNvPr id="22" name="Text 20"/>
          <p:cNvSpPr/>
          <p:nvPr/>
        </p:nvSpPr>
        <p:spPr>
          <a:xfrm>
            <a:off x="6400800" y="4624524"/>
            <a:ext cx="426720" cy="426720"/>
          </a:xfrm>
          <a:prstGeom prst="rect">
            <a:avLst/>
          </a:prstGeom>
          <a:noFill/>
          <a:ln/>
        </p:spPr>
        <p:txBody>
          <a:bodyPr wrap="square" lIns="0" tIns="0" rIns="0" bIns="0" rtlCol="0" anchor="ctr"/>
          <a:lstStyle/>
          <a:p>
            <a:r>
              <a:rPr lang="en-US" sz="2133" b="1" dirty="0">
                <a:solidFill>
                  <a:srgbClr val="DDDDDD"/>
                </a:solidFill>
                <a:latin typeface="Calibri" pitchFamily="34" charset="0"/>
                <a:ea typeface="Calibri" pitchFamily="34" charset="-122"/>
                <a:cs typeface="Calibri" pitchFamily="34" charset="-120"/>
              </a:rPr>
              <a:t>2</a:t>
            </a:r>
            <a:endParaRPr lang="en-US" sz="2133" dirty="0"/>
          </a:p>
        </p:txBody>
      </p:sp>
      <p:sp>
        <p:nvSpPr>
          <p:cNvPr id="23" name="Text 21"/>
          <p:cNvSpPr/>
          <p:nvPr/>
        </p:nvSpPr>
        <p:spPr>
          <a:xfrm>
            <a:off x="6827520" y="4624524"/>
            <a:ext cx="4815840" cy="341376"/>
          </a:xfrm>
          <a:prstGeom prst="rect">
            <a:avLst/>
          </a:prstGeom>
          <a:noFill/>
          <a:ln/>
        </p:spPr>
        <p:txBody>
          <a:bodyPr wrap="square" lIns="0" tIns="0" rIns="0" bIns="0" rtlCol="0" anchor="ctr"/>
          <a:lstStyle/>
          <a:p>
            <a:r>
              <a:rPr lang="en-US" sz="1733" b="1" dirty="0">
                <a:solidFill>
                  <a:srgbClr val="00B0F0"/>
                </a:solidFill>
                <a:latin typeface="Calibri" pitchFamily="34" charset="0"/>
                <a:ea typeface="Calibri" pitchFamily="34" charset="-122"/>
                <a:cs typeface="Calibri" pitchFamily="34" charset="-120"/>
              </a:rPr>
              <a:t>Academic performance ↑</a:t>
            </a:r>
            <a:endParaRPr lang="en-US" sz="1733" dirty="0">
              <a:solidFill>
                <a:srgbClr val="00B0F0"/>
              </a:solidFill>
            </a:endParaRPr>
          </a:p>
        </p:txBody>
      </p:sp>
      <p:sp>
        <p:nvSpPr>
          <p:cNvPr id="24" name="Text 22"/>
          <p:cNvSpPr/>
          <p:nvPr/>
        </p:nvSpPr>
        <p:spPr>
          <a:xfrm>
            <a:off x="6827520" y="4990284"/>
            <a:ext cx="4815840" cy="560832"/>
          </a:xfrm>
          <a:prstGeom prst="rect">
            <a:avLst/>
          </a:prstGeom>
          <a:noFill/>
          <a:ln/>
        </p:spPr>
        <p:txBody>
          <a:bodyPr wrap="square" lIns="0" tIns="0" rIns="0" bIns="0" rtlCol="0" anchor="t"/>
          <a:lstStyle/>
          <a:p>
            <a:r>
              <a:rPr lang="en-US" sz="1400" dirty="0">
                <a:solidFill>
                  <a:srgbClr val="333333"/>
                </a:solidFill>
                <a:latin typeface="Calibri" pitchFamily="34" charset="0"/>
                <a:ea typeface="Calibri" pitchFamily="34" charset="-122"/>
                <a:cs typeface="Calibri" pitchFamily="34" charset="-120"/>
              </a:rPr>
              <a:t>Improved test scores and graduation rates post-ceasefire strengthen HE admission eligibility (Prem et al. 2023 and Montaño-Bardales &amp; Palacios, 2025).</a:t>
            </a:r>
            <a:endParaRPr lang="en-US" sz="1400" dirty="0"/>
          </a:p>
        </p:txBody>
      </p:sp>
      <p:sp>
        <p:nvSpPr>
          <p:cNvPr id="28" name="Shape 10">
            <a:extLst>
              <a:ext uri="{FF2B5EF4-FFF2-40B4-BE49-F238E27FC236}">
                <a16:creationId xmlns:a16="http://schemas.microsoft.com/office/drawing/2014/main" id="{F9F443FA-F4A4-FA36-F6C3-17FC7AAFB73C}"/>
              </a:ext>
            </a:extLst>
          </p:cNvPr>
          <p:cNvSpPr/>
          <p:nvPr/>
        </p:nvSpPr>
        <p:spPr>
          <a:xfrm>
            <a:off x="670560" y="6248400"/>
            <a:ext cx="10850880" cy="0"/>
          </a:xfrm>
          <a:prstGeom prst="line">
            <a:avLst/>
          </a:prstGeom>
          <a:noFill/>
          <a:ln w="9525">
            <a:solidFill>
              <a:srgbClr val="DDDDDD"/>
            </a:solidFill>
            <a:prstDash val="solid"/>
          </a:ln>
        </p:spPr>
        <p:txBody>
          <a:bodyPr/>
          <a:lstStyle/>
          <a:p>
            <a:endParaRPr lang="es-CO" sz="2400"/>
          </a:p>
        </p:txBody>
      </p:sp>
      <p:sp>
        <p:nvSpPr>
          <p:cNvPr id="29" name="Text 11">
            <a:extLst>
              <a:ext uri="{FF2B5EF4-FFF2-40B4-BE49-F238E27FC236}">
                <a16:creationId xmlns:a16="http://schemas.microsoft.com/office/drawing/2014/main" id="{435E586B-F67F-1392-B766-3A8BB3907BBA}"/>
              </a:ext>
            </a:extLst>
          </p:cNvPr>
          <p:cNvSpPr/>
          <p:nvPr/>
        </p:nvSpPr>
        <p:spPr>
          <a:xfrm>
            <a:off x="365760" y="6321552"/>
            <a:ext cx="2255520" cy="414528"/>
          </a:xfrm>
          <a:prstGeom prst="rect">
            <a:avLst/>
          </a:prstGeom>
          <a:noFill/>
          <a:ln/>
        </p:spPr>
        <p:txBody>
          <a:bodyPr wrap="square" lIns="0" tIns="0" rIns="0" bIns="0" rtlCol="0" anchor="ctr"/>
          <a:lstStyle/>
          <a:p>
            <a:r>
              <a:rPr lang="en-US" sz="1133" dirty="0">
                <a:solidFill>
                  <a:srgbClr val="00B0F0"/>
                </a:solidFill>
                <a:latin typeface="Calibri" pitchFamily="34" charset="0"/>
                <a:ea typeface="Calibri" pitchFamily="34" charset="-122"/>
                <a:cs typeface="Calibri" pitchFamily="34" charset="-120"/>
              </a:rPr>
              <a:t>1. Motivation</a:t>
            </a:r>
            <a:endParaRPr lang="en-US" sz="1133" dirty="0">
              <a:solidFill>
                <a:srgbClr val="00B0F0"/>
              </a:solidFill>
            </a:endParaRPr>
          </a:p>
        </p:txBody>
      </p:sp>
      <p:sp>
        <p:nvSpPr>
          <p:cNvPr id="30" name="Text 12">
            <a:extLst>
              <a:ext uri="{FF2B5EF4-FFF2-40B4-BE49-F238E27FC236}">
                <a16:creationId xmlns:a16="http://schemas.microsoft.com/office/drawing/2014/main" id="{217F3210-D6C0-81E4-46AE-3C91EA64EC68}"/>
              </a:ext>
            </a:extLst>
          </p:cNvPr>
          <p:cNvSpPr/>
          <p:nvPr/>
        </p:nvSpPr>
        <p:spPr>
          <a:xfrm>
            <a:off x="2657856" y="6321552"/>
            <a:ext cx="2255520" cy="414528"/>
          </a:xfrm>
          <a:prstGeom prst="rect">
            <a:avLst/>
          </a:prstGeom>
          <a:noFill/>
          <a:ln/>
        </p:spPr>
        <p:txBody>
          <a:bodyPr wrap="square" lIns="0" tIns="0" rIns="0" bIns="0" rtlCol="0" anchor="ctr"/>
          <a:lstStyle/>
          <a:p>
            <a:r>
              <a:rPr lang="en-US" sz="1133" dirty="0">
                <a:solidFill>
                  <a:schemeClr val="bg2">
                    <a:lumMod val="90000"/>
                  </a:schemeClr>
                </a:solidFill>
                <a:latin typeface="Calibri" pitchFamily="34" charset="0"/>
                <a:ea typeface="Calibri" pitchFamily="34" charset="-122"/>
                <a:cs typeface="Calibri" pitchFamily="34" charset="-120"/>
              </a:rPr>
              <a:t>2. Context</a:t>
            </a:r>
            <a:endParaRPr lang="en-US" sz="1133" dirty="0">
              <a:solidFill>
                <a:schemeClr val="bg2">
                  <a:lumMod val="90000"/>
                </a:schemeClr>
              </a:solidFill>
            </a:endParaRPr>
          </a:p>
        </p:txBody>
      </p:sp>
      <p:sp>
        <p:nvSpPr>
          <p:cNvPr id="31" name="Text 13">
            <a:extLst>
              <a:ext uri="{FF2B5EF4-FFF2-40B4-BE49-F238E27FC236}">
                <a16:creationId xmlns:a16="http://schemas.microsoft.com/office/drawing/2014/main" id="{9F1D0847-FCF0-B06B-8D1C-13FE4206E956}"/>
              </a:ext>
            </a:extLst>
          </p:cNvPr>
          <p:cNvSpPr/>
          <p:nvPr/>
        </p:nvSpPr>
        <p:spPr>
          <a:xfrm>
            <a:off x="4949952" y="6321552"/>
            <a:ext cx="2255520" cy="414528"/>
          </a:xfrm>
          <a:prstGeom prst="rect">
            <a:avLst/>
          </a:prstGeom>
          <a:noFill/>
          <a:ln/>
        </p:spPr>
        <p:txBody>
          <a:bodyPr wrap="square" lIns="0" tIns="0" rIns="0" bIns="0" rtlCol="0" anchor="ctr"/>
          <a:lstStyle/>
          <a:p>
            <a:r>
              <a:rPr lang="en-US" sz="1133" dirty="0">
                <a:solidFill>
                  <a:schemeClr val="bg2">
                    <a:lumMod val="90000"/>
                  </a:schemeClr>
                </a:solidFill>
                <a:latin typeface="Calibri" pitchFamily="34" charset="0"/>
                <a:ea typeface="Calibri" pitchFamily="34" charset="-122"/>
                <a:cs typeface="Calibri" pitchFamily="34" charset="-120"/>
              </a:rPr>
              <a:t>3. Research Design</a:t>
            </a:r>
            <a:endParaRPr lang="en-US" sz="1133" dirty="0">
              <a:solidFill>
                <a:schemeClr val="bg2">
                  <a:lumMod val="90000"/>
                </a:schemeClr>
              </a:solidFill>
            </a:endParaRPr>
          </a:p>
        </p:txBody>
      </p:sp>
      <p:sp>
        <p:nvSpPr>
          <p:cNvPr id="32" name="Text 14">
            <a:extLst>
              <a:ext uri="{FF2B5EF4-FFF2-40B4-BE49-F238E27FC236}">
                <a16:creationId xmlns:a16="http://schemas.microsoft.com/office/drawing/2014/main" id="{C27CFF39-4FFA-2DB6-972F-CA58405A112B}"/>
              </a:ext>
            </a:extLst>
          </p:cNvPr>
          <p:cNvSpPr/>
          <p:nvPr/>
        </p:nvSpPr>
        <p:spPr>
          <a:xfrm>
            <a:off x="7242048" y="6321552"/>
            <a:ext cx="2255520" cy="414528"/>
          </a:xfrm>
          <a:prstGeom prst="rect">
            <a:avLst/>
          </a:prstGeom>
          <a:noFill/>
          <a:ln/>
        </p:spPr>
        <p:txBody>
          <a:bodyPr wrap="square" lIns="0" tIns="0" rIns="0" bIns="0" rtlCol="0" anchor="ctr"/>
          <a:lstStyle/>
          <a:p>
            <a:r>
              <a:rPr lang="en-US" sz="1133" dirty="0">
                <a:solidFill>
                  <a:schemeClr val="bg2">
                    <a:lumMod val="90000"/>
                  </a:schemeClr>
                </a:solidFill>
                <a:latin typeface="Calibri" pitchFamily="34" charset="0"/>
                <a:ea typeface="Calibri" pitchFamily="34" charset="-122"/>
                <a:cs typeface="Calibri" pitchFamily="34" charset="-120"/>
              </a:rPr>
              <a:t>4. Challenges and limitations</a:t>
            </a:r>
            <a:endParaRPr lang="en-US" sz="1133" dirty="0">
              <a:solidFill>
                <a:schemeClr val="bg2">
                  <a:lumMod val="90000"/>
                </a:schemeClr>
              </a:solidFill>
            </a:endParaRPr>
          </a:p>
        </p:txBody>
      </p:sp>
      <p:sp>
        <p:nvSpPr>
          <p:cNvPr id="33" name="Text 15">
            <a:extLst>
              <a:ext uri="{FF2B5EF4-FFF2-40B4-BE49-F238E27FC236}">
                <a16:creationId xmlns:a16="http://schemas.microsoft.com/office/drawing/2014/main" id="{7EEB2188-DF94-A86D-D846-7A6FDFED5775}"/>
              </a:ext>
            </a:extLst>
          </p:cNvPr>
          <p:cNvSpPr/>
          <p:nvPr/>
        </p:nvSpPr>
        <p:spPr>
          <a:xfrm>
            <a:off x="9534144" y="6321552"/>
            <a:ext cx="2255520" cy="414528"/>
          </a:xfrm>
          <a:prstGeom prst="rect">
            <a:avLst/>
          </a:prstGeom>
          <a:noFill/>
          <a:ln/>
        </p:spPr>
        <p:txBody>
          <a:bodyPr wrap="square" lIns="0" tIns="0" rIns="0" bIns="0" rtlCol="0" anchor="ctr"/>
          <a:lstStyle/>
          <a:p>
            <a:r>
              <a:rPr lang="en-US" sz="1133" dirty="0">
                <a:solidFill>
                  <a:schemeClr val="bg2">
                    <a:lumMod val="90000"/>
                  </a:schemeClr>
                </a:solidFill>
                <a:latin typeface="Calibri" pitchFamily="34" charset="0"/>
                <a:ea typeface="Calibri" pitchFamily="34" charset="-122"/>
                <a:cs typeface="Calibri" pitchFamily="34" charset="-120"/>
              </a:rPr>
              <a:t>5. Next Steps</a:t>
            </a:r>
            <a:endParaRPr lang="en-US" sz="1133" dirty="0">
              <a:solidFill>
                <a:schemeClr val="bg2">
                  <a:lumMod val="90000"/>
                </a:schemeClr>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81573" y="267520"/>
            <a:ext cx="10728960" cy="633984"/>
          </a:xfrm>
          <a:prstGeom prst="rect">
            <a:avLst/>
          </a:prstGeom>
          <a:noFill/>
          <a:ln/>
        </p:spPr>
        <p:txBody>
          <a:bodyPr wrap="square" lIns="0" tIns="0" rIns="0" bIns="0" rtlCol="0" anchor="ctr"/>
          <a:lstStyle/>
          <a:p>
            <a:r>
              <a:rPr lang="en-US" sz="3733" b="1" dirty="0">
                <a:solidFill>
                  <a:srgbClr val="002060"/>
                </a:solidFill>
                <a:latin typeface="Calibri" pitchFamily="34" charset="0"/>
                <a:ea typeface="Calibri" pitchFamily="34" charset="-122"/>
                <a:cs typeface="Calibri" pitchFamily="34" charset="-120"/>
              </a:rPr>
              <a:t>Context: Why Colombia?</a:t>
            </a:r>
            <a:endParaRPr lang="en-US" sz="3733" dirty="0">
              <a:solidFill>
                <a:srgbClr val="002060"/>
              </a:solidFill>
            </a:endParaRPr>
          </a:p>
        </p:txBody>
      </p:sp>
      <p:sp>
        <p:nvSpPr>
          <p:cNvPr id="3" name="Shape 1"/>
          <p:cNvSpPr/>
          <p:nvPr/>
        </p:nvSpPr>
        <p:spPr>
          <a:xfrm>
            <a:off x="670560" y="1024128"/>
            <a:ext cx="10850880" cy="0"/>
          </a:xfrm>
          <a:prstGeom prst="line">
            <a:avLst/>
          </a:prstGeom>
          <a:noFill/>
          <a:ln w="9525">
            <a:solidFill>
              <a:srgbClr val="DDDDDD"/>
            </a:solidFill>
            <a:prstDash val="solid"/>
          </a:ln>
        </p:spPr>
        <p:txBody>
          <a:bodyPr/>
          <a:lstStyle/>
          <a:p>
            <a:endParaRPr lang="es-CO" sz="2400"/>
          </a:p>
        </p:txBody>
      </p:sp>
      <p:sp>
        <p:nvSpPr>
          <p:cNvPr id="4" name="Text 2"/>
          <p:cNvSpPr/>
          <p:nvPr/>
        </p:nvSpPr>
        <p:spPr>
          <a:xfrm>
            <a:off x="920183" y="1332539"/>
            <a:ext cx="5120640" cy="268224"/>
          </a:xfrm>
          <a:prstGeom prst="rect">
            <a:avLst/>
          </a:prstGeom>
          <a:noFill/>
          <a:ln/>
        </p:spPr>
        <p:txBody>
          <a:bodyPr wrap="square" lIns="0" tIns="0" rIns="0" bIns="0" rtlCol="0" anchor="ctr"/>
          <a:lstStyle/>
          <a:p>
            <a:r>
              <a:rPr lang="en-US" sz="1200" b="1" kern="0" spc="133" dirty="0">
                <a:solidFill>
                  <a:srgbClr val="888888"/>
                </a:solidFill>
                <a:latin typeface="Calibri" pitchFamily="34" charset="0"/>
                <a:ea typeface="Calibri" pitchFamily="34" charset="-122"/>
                <a:cs typeface="Calibri" pitchFamily="34" charset="-120"/>
              </a:rPr>
              <a:t>CONFLICT TIMELINE</a:t>
            </a:r>
            <a:endParaRPr lang="en-US" sz="1200" dirty="0"/>
          </a:p>
        </p:txBody>
      </p:sp>
      <p:sp>
        <p:nvSpPr>
          <p:cNvPr id="5" name="Shape 3"/>
          <p:cNvSpPr/>
          <p:nvPr/>
        </p:nvSpPr>
        <p:spPr>
          <a:xfrm>
            <a:off x="944567" y="2147521"/>
            <a:ext cx="121920" cy="121920"/>
          </a:xfrm>
          <a:prstGeom prst="ellipse">
            <a:avLst/>
          </a:prstGeom>
          <a:solidFill>
            <a:srgbClr val="00B0F0"/>
          </a:solidFill>
          <a:ln w="12700">
            <a:solidFill>
              <a:srgbClr val="1A1A1A"/>
            </a:solidFill>
            <a:prstDash val="solid"/>
          </a:ln>
        </p:spPr>
        <p:txBody>
          <a:bodyPr/>
          <a:lstStyle/>
          <a:p>
            <a:endParaRPr lang="es-CO" sz="2400"/>
          </a:p>
        </p:txBody>
      </p:sp>
      <p:sp>
        <p:nvSpPr>
          <p:cNvPr id="6" name="Shape 4"/>
          <p:cNvSpPr/>
          <p:nvPr/>
        </p:nvSpPr>
        <p:spPr>
          <a:xfrm>
            <a:off x="1001869" y="2269441"/>
            <a:ext cx="0" cy="512064"/>
          </a:xfrm>
          <a:prstGeom prst="line">
            <a:avLst/>
          </a:prstGeom>
          <a:noFill/>
          <a:ln w="9525">
            <a:solidFill>
              <a:srgbClr val="DDDDDD"/>
            </a:solidFill>
            <a:prstDash val="solid"/>
          </a:ln>
        </p:spPr>
        <p:txBody>
          <a:bodyPr/>
          <a:lstStyle/>
          <a:p>
            <a:endParaRPr lang="es-CO" sz="2400"/>
          </a:p>
        </p:txBody>
      </p:sp>
      <p:sp>
        <p:nvSpPr>
          <p:cNvPr id="7" name="Text 5"/>
          <p:cNvSpPr/>
          <p:nvPr/>
        </p:nvSpPr>
        <p:spPr>
          <a:xfrm>
            <a:off x="1188407" y="2035041"/>
            <a:ext cx="1097280" cy="268224"/>
          </a:xfrm>
          <a:prstGeom prst="rect">
            <a:avLst/>
          </a:prstGeom>
          <a:noFill/>
          <a:ln/>
        </p:spPr>
        <p:txBody>
          <a:bodyPr wrap="square" lIns="0" tIns="0" rIns="0" bIns="0" rtlCol="0" anchor="ctr"/>
          <a:lstStyle/>
          <a:p>
            <a:r>
              <a:rPr lang="en-US" sz="1400" b="1" dirty="0">
                <a:solidFill>
                  <a:srgbClr val="1A1A1A"/>
                </a:solidFill>
                <a:latin typeface="Calibri" pitchFamily="34" charset="0"/>
                <a:ea typeface="Calibri" pitchFamily="34" charset="-122"/>
                <a:cs typeface="Calibri" pitchFamily="34" charset="-120"/>
              </a:rPr>
              <a:t>1964</a:t>
            </a:r>
            <a:endParaRPr lang="en-US" sz="1400" dirty="0"/>
          </a:p>
        </p:txBody>
      </p:sp>
      <p:sp>
        <p:nvSpPr>
          <p:cNvPr id="8" name="Text 6"/>
          <p:cNvSpPr/>
          <p:nvPr/>
        </p:nvSpPr>
        <p:spPr>
          <a:xfrm>
            <a:off x="1178575" y="2425185"/>
            <a:ext cx="4603244" cy="341376"/>
          </a:xfrm>
          <a:prstGeom prst="rect">
            <a:avLst/>
          </a:prstGeom>
          <a:noFill/>
          <a:ln/>
        </p:spPr>
        <p:txBody>
          <a:bodyPr wrap="square" lIns="0" tIns="0" rIns="0" bIns="0" rtlCol="0" anchor="ctr"/>
          <a:lstStyle/>
          <a:p>
            <a:r>
              <a:rPr lang="en-US" sz="1400" dirty="0">
                <a:solidFill>
                  <a:srgbClr val="333333"/>
                </a:solidFill>
                <a:latin typeface="Calibri" pitchFamily="34" charset="0"/>
                <a:ea typeface="Calibri" pitchFamily="34" charset="-122"/>
                <a:cs typeface="Calibri" pitchFamily="34" charset="-120"/>
              </a:rPr>
              <a:t>FARC &amp; ELN founded — Ideological conflict inspired by communism and Cuba revolution</a:t>
            </a:r>
          </a:p>
          <a:p>
            <a:endParaRPr lang="en-US" sz="1400" dirty="0"/>
          </a:p>
        </p:txBody>
      </p:sp>
      <p:sp>
        <p:nvSpPr>
          <p:cNvPr id="9" name="Shape 7"/>
          <p:cNvSpPr/>
          <p:nvPr/>
        </p:nvSpPr>
        <p:spPr>
          <a:xfrm>
            <a:off x="944567" y="2781505"/>
            <a:ext cx="121920" cy="121920"/>
          </a:xfrm>
          <a:prstGeom prst="ellipse">
            <a:avLst/>
          </a:prstGeom>
          <a:solidFill>
            <a:srgbClr val="0070C0"/>
          </a:solidFill>
          <a:ln w="12700">
            <a:solidFill>
              <a:srgbClr val="1A1A1A"/>
            </a:solidFill>
            <a:prstDash val="solid"/>
          </a:ln>
        </p:spPr>
        <p:txBody>
          <a:bodyPr/>
          <a:lstStyle/>
          <a:p>
            <a:endParaRPr lang="es-CO" sz="2400"/>
          </a:p>
        </p:txBody>
      </p:sp>
      <p:sp>
        <p:nvSpPr>
          <p:cNvPr id="10" name="Shape 8"/>
          <p:cNvSpPr/>
          <p:nvPr/>
        </p:nvSpPr>
        <p:spPr>
          <a:xfrm>
            <a:off x="1001869" y="2903426"/>
            <a:ext cx="0" cy="570829"/>
          </a:xfrm>
          <a:prstGeom prst="line">
            <a:avLst/>
          </a:prstGeom>
          <a:noFill/>
          <a:ln w="9525">
            <a:solidFill>
              <a:srgbClr val="DDDDDD"/>
            </a:solidFill>
            <a:prstDash val="solid"/>
          </a:ln>
        </p:spPr>
        <p:txBody>
          <a:bodyPr/>
          <a:lstStyle/>
          <a:p>
            <a:endParaRPr lang="es-CO" sz="2400"/>
          </a:p>
        </p:txBody>
      </p:sp>
      <p:sp>
        <p:nvSpPr>
          <p:cNvPr id="11" name="Text 9"/>
          <p:cNvSpPr/>
          <p:nvPr/>
        </p:nvSpPr>
        <p:spPr>
          <a:xfrm>
            <a:off x="1188407" y="2708353"/>
            <a:ext cx="1097280" cy="268224"/>
          </a:xfrm>
          <a:prstGeom prst="rect">
            <a:avLst/>
          </a:prstGeom>
          <a:noFill/>
          <a:ln/>
        </p:spPr>
        <p:txBody>
          <a:bodyPr wrap="square" lIns="0" tIns="0" rIns="0" bIns="0" rtlCol="0" anchor="ctr"/>
          <a:lstStyle/>
          <a:p>
            <a:r>
              <a:rPr lang="en-US" sz="1400" b="1" dirty="0">
                <a:solidFill>
                  <a:srgbClr val="1A1A1A"/>
                </a:solidFill>
                <a:latin typeface="Calibri" pitchFamily="34" charset="0"/>
                <a:ea typeface="Calibri" pitchFamily="34" charset="-122"/>
                <a:cs typeface="Calibri" pitchFamily="34" charset="-120"/>
              </a:rPr>
              <a:t>1980s</a:t>
            </a:r>
            <a:endParaRPr lang="en-US" sz="1400" dirty="0"/>
          </a:p>
        </p:txBody>
      </p:sp>
      <p:sp>
        <p:nvSpPr>
          <p:cNvPr id="12" name="Text 10"/>
          <p:cNvSpPr/>
          <p:nvPr/>
        </p:nvSpPr>
        <p:spPr>
          <a:xfrm>
            <a:off x="1188408" y="3025345"/>
            <a:ext cx="4200457" cy="341376"/>
          </a:xfrm>
          <a:prstGeom prst="rect">
            <a:avLst/>
          </a:prstGeom>
          <a:noFill/>
          <a:ln/>
        </p:spPr>
        <p:txBody>
          <a:bodyPr wrap="square" lIns="0" tIns="0" rIns="0" bIns="0" rtlCol="0" anchor="ctr"/>
          <a:lstStyle/>
          <a:p>
            <a:r>
              <a:rPr lang="en-US" sz="1400" dirty="0">
                <a:solidFill>
                  <a:srgbClr val="333333"/>
                </a:solidFill>
                <a:latin typeface="Calibri" pitchFamily="34" charset="0"/>
                <a:ea typeface="Calibri" pitchFamily="34" charset="-122"/>
                <a:cs typeface="Calibri" pitchFamily="34" charset="-120"/>
              </a:rPr>
              <a:t>AUC paramilitaries emerge; drug trafficking transforms the conflict</a:t>
            </a:r>
            <a:endParaRPr lang="en-US" sz="1400" dirty="0"/>
          </a:p>
        </p:txBody>
      </p:sp>
      <p:sp>
        <p:nvSpPr>
          <p:cNvPr id="13" name="Shape 11"/>
          <p:cNvSpPr/>
          <p:nvPr/>
        </p:nvSpPr>
        <p:spPr>
          <a:xfrm>
            <a:off x="944567" y="3504897"/>
            <a:ext cx="121920" cy="121920"/>
          </a:xfrm>
          <a:prstGeom prst="ellipse">
            <a:avLst/>
          </a:prstGeom>
          <a:solidFill>
            <a:srgbClr val="00B0F0"/>
          </a:solidFill>
          <a:ln w="12700">
            <a:solidFill>
              <a:srgbClr val="1A1A1A"/>
            </a:solidFill>
            <a:prstDash val="solid"/>
          </a:ln>
        </p:spPr>
        <p:txBody>
          <a:bodyPr/>
          <a:lstStyle/>
          <a:p>
            <a:endParaRPr lang="es-CO" sz="2400"/>
          </a:p>
        </p:txBody>
      </p:sp>
      <p:sp>
        <p:nvSpPr>
          <p:cNvPr id="14" name="Shape 12"/>
          <p:cNvSpPr/>
          <p:nvPr/>
        </p:nvSpPr>
        <p:spPr>
          <a:xfrm>
            <a:off x="1001869" y="3634945"/>
            <a:ext cx="0" cy="552704"/>
          </a:xfrm>
          <a:prstGeom prst="line">
            <a:avLst/>
          </a:prstGeom>
          <a:noFill/>
          <a:ln w="9525">
            <a:solidFill>
              <a:srgbClr val="DDDDDD"/>
            </a:solidFill>
            <a:prstDash val="solid"/>
          </a:ln>
        </p:spPr>
        <p:txBody>
          <a:bodyPr/>
          <a:lstStyle/>
          <a:p>
            <a:endParaRPr lang="es-CO" sz="2400"/>
          </a:p>
        </p:txBody>
      </p:sp>
      <p:sp>
        <p:nvSpPr>
          <p:cNvPr id="15" name="Text 13"/>
          <p:cNvSpPr/>
          <p:nvPr/>
        </p:nvSpPr>
        <p:spPr>
          <a:xfrm>
            <a:off x="1188407" y="3431745"/>
            <a:ext cx="1097280" cy="268224"/>
          </a:xfrm>
          <a:prstGeom prst="rect">
            <a:avLst/>
          </a:prstGeom>
          <a:noFill/>
          <a:ln/>
        </p:spPr>
        <p:txBody>
          <a:bodyPr wrap="square" lIns="0" tIns="0" rIns="0" bIns="0" rtlCol="0" anchor="ctr"/>
          <a:lstStyle/>
          <a:p>
            <a:r>
              <a:rPr lang="en-US" sz="1400" b="1" dirty="0">
                <a:solidFill>
                  <a:srgbClr val="1A1A1A"/>
                </a:solidFill>
                <a:latin typeface="Calibri" pitchFamily="34" charset="0"/>
                <a:ea typeface="Calibri" pitchFamily="34" charset="-122"/>
                <a:cs typeface="Calibri" pitchFamily="34" charset="-120"/>
              </a:rPr>
              <a:t>2012</a:t>
            </a:r>
            <a:endParaRPr lang="en-US" sz="1400" dirty="0"/>
          </a:p>
        </p:txBody>
      </p:sp>
      <p:sp>
        <p:nvSpPr>
          <p:cNvPr id="16" name="Text 14"/>
          <p:cNvSpPr/>
          <p:nvPr/>
        </p:nvSpPr>
        <p:spPr>
          <a:xfrm>
            <a:off x="1188408" y="3732481"/>
            <a:ext cx="4297683" cy="341376"/>
          </a:xfrm>
          <a:prstGeom prst="rect">
            <a:avLst/>
          </a:prstGeom>
          <a:noFill/>
          <a:ln/>
        </p:spPr>
        <p:txBody>
          <a:bodyPr wrap="square" lIns="0" tIns="0" rIns="0" bIns="0" rtlCol="0" anchor="ctr"/>
          <a:lstStyle/>
          <a:p>
            <a:r>
              <a:rPr lang="en-US" sz="1400" dirty="0">
                <a:solidFill>
                  <a:srgbClr val="333333"/>
                </a:solidFill>
                <a:latin typeface="Calibri" pitchFamily="34" charset="0"/>
                <a:ea typeface="Calibri" pitchFamily="34" charset="-122"/>
                <a:cs typeface="Calibri" pitchFamily="34" charset="-120"/>
              </a:rPr>
              <a:t>Peace negotiations with the FARC guerrilla began in Havana - Cuba</a:t>
            </a:r>
            <a:endParaRPr lang="en-US" sz="1400" dirty="0"/>
          </a:p>
        </p:txBody>
      </p:sp>
      <p:sp>
        <p:nvSpPr>
          <p:cNvPr id="17" name="Shape 15"/>
          <p:cNvSpPr/>
          <p:nvPr/>
        </p:nvSpPr>
        <p:spPr>
          <a:xfrm>
            <a:off x="944567" y="4228289"/>
            <a:ext cx="121920" cy="121920"/>
          </a:xfrm>
          <a:prstGeom prst="ellipse">
            <a:avLst/>
          </a:prstGeom>
          <a:solidFill>
            <a:srgbClr val="0070C0"/>
          </a:solidFill>
          <a:ln w="12700">
            <a:solidFill>
              <a:srgbClr val="1A1A1A"/>
            </a:solidFill>
            <a:prstDash val="solid"/>
          </a:ln>
        </p:spPr>
        <p:txBody>
          <a:bodyPr/>
          <a:lstStyle/>
          <a:p>
            <a:endParaRPr lang="es-CO" sz="2400"/>
          </a:p>
        </p:txBody>
      </p:sp>
      <p:sp>
        <p:nvSpPr>
          <p:cNvPr id="18" name="Shape 16"/>
          <p:cNvSpPr/>
          <p:nvPr/>
        </p:nvSpPr>
        <p:spPr>
          <a:xfrm>
            <a:off x="1001869" y="4366465"/>
            <a:ext cx="0" cy="512064"/>
          </a:xfrm>
          <a:prstGeom prst="line">
            <a:avLst/>
          </a:prstGeom>
          <a:noFill/>
          <a:ln w="9525">
            <a:solidFill>
              <a:srgbClr val="DDDDDD"/>
            </a:solidFill>
            <a:prstDash val="solid"/>
          </a:ln>
        </p:spPr>
        <p:txBody>
          <a:bodyPr/>
          <a:lstStyle/>
          <a:p>
            <a:endParaRPr lang="es-CO" sz="2400"/>
          </a:p>
        </p:txBody>
      </p:sp>
      <p:sp>
        <p:nvSpPr>
          <p:cNvPr id="19" name="Text 17"/>
          <p:cNvSpPr/>
          <p:nvPr/>
        </p:nvSpPr>
        <p:spPr>
          <a:xfrm>
            <a:off x="1188407" y="4171393"/>
            <a:ext cx="1097280" cy="268224"/>
          </a:xfrm>
          <a:prstGeom prst="rect">
            <a:avLst/>
          </a:prstGeom>
          <a:noFill/>
          <a:ln/>
        </p:spPr>
        <p:txBody>
          <a:bodyPr wrap="square" lIns="0" tIns="0" rIns="0" bIns="0" rtlCol="0" anchor="ctr"/>
          <a:lstStyle/>
          <a:p>
            <a:r>
              <a:rPr lang="en-US" sz="1400" b="1" dirty="0">
                <a:solidFill>
                  <a:srgbClr val="1A1A1A"/>
                </a:solidFill>
                <a:latin typeface="Calibri" pitchFamily="34" charset="0"/>
                <a:ea typeface="Calibri" pitchFamily="34" charset="-122"/>
                <a:cs typeface="Calibri" pitchFamily="34" charset="-120"/>
              </a:rPr>
              <a:t>Dec 2014</a:t>
            </a:r>
            <a:endParaRPr lang="en-US" sz="1400" dirty="0"/>
          </a:p>
        </p:txBody>
      </p:sp>
      <p:sp>
        <p:nvSpPr>
          <p:cNvPr id="20" name="Text 18"/>
          <p:cNvSpPr/>
          <p:nvPr/>
        </p:nvSpPr>
        <p:spPr>
          <a:xfrm>
            <a:off x="1188407" y="4447317"/>
            <a:ext cx="4852416" cy="341376"/>
          </a:xfrm>
          <a:prstGeom prst="rect">
            <a:avLst/>
          </a:prstGeom>
          <a:noFill/>
          <a:ln/>
        </p:spPr>
        <p:txBody>
          <a:bodyPr wrap="square" lIns="0" tIns="0" rIns="0" bIns="0" rtlCol="0" anchor="ctr"/>
          <a:lstStyle/>
          <a:p>
            <a:r>
              <a:rPr lang="en-US" sz="1400" dirty="0">
                <a:solidFill>
                  <a:srgbClr val="333333"/>
                </a:solidFill>
                <a:latin typeface="Calibri" pitchFamily="34" charset="0"/>
                <a:ea typeface="Calibri" pitchFamily="34" charset="-122"/>
                <a:cs typeface="Calibri" pitchFamily="34" charset="-120"/>
              </a:rPr>
              <a:t>A bilateral ceasefire between FARC and the Colombian Government was declared</a:t>
            </a:r>
            <a:endParaRPr lang="en-US" sz="1400" dirty="0"/>
          </a:p>
        </p:txBody>
      </p:sp>
      <p:sp>
        <p:nvSpPr>
          <p:cNvPr id="21" name="Shape 19"/>
          <p:cNvSpPr/>
          <p:nvPr/>
        </p:nvSpPr>
        <p:spPr>
          <a:xfrm>
            <a:off x="944567" y="4878529"/>
            <a:ext cx="121920" cy="121920"/>
          </a:xfrm>
          <a:prstGeom prst="ellipse">
            <a:avLst/>
          </a:prstGeom>
          <a:solidFill>
            <a:srgbClr val="00B0F0"/>
          </a:solidFill>
          <a:ln w="12700">
            <a:solidFill>
              <a:srgbClr val="1A1A1A"/>
            </a:solidFill>
            <a:prstDash val="solid"/>
          </a:ln>
        </p:spPr>
        <p:txBody>
          <a:bodyPr/>
          <a:lstStyle/>
          <a:p>
            <a:endParaRPr lang="es-CO" sz="2400"/>
          </a:p>
        </p:txBody>
      </p:sp>
      <p:sp>
        <p:nvSpPr>
          <p:cNvPr id="22" name="Text 20"/>
          <p:cNvSpPr/>
          <p:nvPr/>
        </p:nvSpPr>
        <p:spPr>
          <a:xfrm>
            <a:off x="1188407" y="4837461"/>
            <a:ext cx="1097280" cy="268224"/>
          </a:xfrm>
          <a:prstGeom prst="rect">
            <a:avLst/>
          </a:prstGeom>
          <a:noFill/>
          <a:ln/>
        </p:spPr>
        <p:txBody>
          <a:bodyPr wrap="square" lIns="0" tIns="0" rIns="0" bIns="0" rtlCol="0" anchor="ctr"/>
          <a:lstStyle/>
          <a:p>
            <a:r>
              <a:rPr lang="en-US" sz="1400" b="1" dirty="0">
                <a:solidFill>
                  <a:srgbClr val="1A1A1A"/>
                </a:solidFill>
                <a:latin typeface="Calibri" pitchFamily="34" charset="0"/>
                <a:ea typeface="Calibri" pitchFamily="34" charset="-122"/>
                <a:cs typeface="Calibri" pitchFamily="34" charset="-120"/>
              </a:rPr>
              <a:t>Nov 2016</a:t>
            </a:r>
            <a:endParaRPr lang="en-US" sz="1400" dirty="0"/>
          </a:p>
        </p:txBody>
      </p:sp>
      <p:sp>
        <p:nvSpPr>
          <p:cNvPr id="23" name="Text 21"/>
          <p:cNvSpPr/>
          <p:nvPr/>
        </p:nvSpPr>
        <p:spPr>
          <a:xfrm>
            <a:off x="1188407" y="5049217"/>
            <a:ext cx="4852416" cy="341376"/>
          </a:xfrm>
          <a:prstGeom prst="rect">
            <a:avLst/>
          </a:prstGeom>
          <a:noFill/>
          <a:ln/>
        </p:spPr>
        <p:txBody>
          <a:bodyPr wrap="square" lIns="0" tIns="0" rIns="0" bIns="0" rtlCol="0" anchor="ctr"/>
          <a:lstStyle/>
          <a:p>
            <a:r>
              <a:rPr lang="en-US" sz="1400" dirty="0">
                <a:solidFill>
                  <a:srgbClr val="333333"/>
                </a:solidFill>
                <a:latin typeface="Calibri" pitchFamily="34" charset="0"/>
                <a:ea typeface="Calibri" pitchFamily="34" charset="-122"/>
                <a:cs typeface="Calibri" pitchFamily="34" charset="-120"/>
              </a:rPr>
              <a:t>Signing of the final Peace Agreement</a:t>
            </a:r>
            <a:endParaRPr lang="en-US" sz="1400" dirty="0"/>
          </a:p>
        </p:txBody>
      </p:sp>
      <p:sp>
        <p:nvSpPr>
          <p:cNvPr id="25" name="Text 23"/>
          <p:cNvSpPr/>
          <p:nvPr/>
        </p:nvSpPr>
        <p:spPr>
          <a:xfrm>
            <a:off x="6339844" y="1331971"/>
            <a:ext cx="5120640" cy="268224"/>
          </a:xfrm>
          <a:prstGeom prst="rect">
            <a:avLst/>
          </a:prstGeom>
          <a:noFill/>
          <a:ln/>
        </p:spPr>
        <p:txBody>
          <a:bodyPr wrap="square" lIns="0" tIns="0" rIns="0" bIns="0" rtlCol="0" anchor="ctr"/>
          <a:lstStyle/>
          <a:p>
            <a:r>
              <a:rPr lang="en-US" sz="1200" b="1" kern="0" spc="133" dirty="0">
                <a:solidFill>
                  <a:srgbClr val="888888"/>
                </a:solidFill>
                <a:latin typeface="Calibri" pitchFamily="34" charset="0"/>
                <a:ea typeface="Calibri" pitchFamily="34" charset="-122"/>
                <a:cs typeface="Calibri" pitchFamily="34" charset="-120"/>
              </a:rPr>
              <a:t>HUMAN COST  1995–2018</a:t>
            </a:r>
            <a:endParaRPr lang="en-US" sz="1200" dirty="0"/>
          </a:p>
        </p:txBody>
      </p:sp>
      <p:sp>
        <p:nvSpPr>
          <p:cNvPr id="26" name="Text 24"/>
          <p:cNvSpPr/>
          <p:nvPr/>
        </p:nvSpPr>
        <p:spPr>
          <a:xfrm>
            <a:off x="6273881" y="1810795"/>
            <a:ext cx="1280160" cy="438912"/>
          </a:xfrm>
          <a:prstGeom prst="rect">
            <a:avLst/>
          </a:prstGeom>
          <a:noFill/>
          <a:ln/>
        </p:spPr>
        <p:txBody>
          <a:bodyPr wrap="square" lIns="0" tIns="0" rIns="0" bIns="0" rtlCol="0" anchor="ctr"/>
          <a:lstStyle/>
          <a:p>
            <a:pPr algn="ctr"/>
            <a:r>
              <a:rPr lang="en-US" sz="2133" b="1" dirty="0">
                <a:solidFill>
                  <a:srgbClr val="00B0F0"/>
                </a:solidFill>
                <a:latin typeface="Calibri" pitchFamily="34" charset="0"/>
                <a:ea typeface="Calibri" pitchFamily="34" charset="-122"/>
                <a:cs typeface="Calibri" pitchFamily="34" charset="-120"/>
              </a:rPr>
              <a:t>450,664</a:t>
            </a:r>
            <a:endParaRPr lang="en-US" sz="1867" dirty="0">
              <a:solidFill>
                <a:srgbClr val="00B0F0"/>
              </a:solidFill>
            </a:endParaRPr>
          </a:p>
        </p:txBody>
      </p:sp>
      <p:sp>
        <p:nvSpPr>
          <p:cNvPr id="27" name="Text 25"/>
          <p:cNvSpPr/>
          <p:nvPr/>
        </p:nvSpPr>
        <p:spPr>
          <a:xfrm>
            <a:off x="6255124" y="2181243"/>
            <a:ext cx="1280160" cy="268224"/>
          </a:xfrm>
          <a:prstGeom prst="rect">
            <a:avLst/>
          </a:prstGeom>
          <a:noFill/>
          <a:ln/>
        </p:spPr>
        <p:txBody>
          <a:bodyPr wrap="square" lIns="0" tIns="0" rIns="0" bIns="0" rtlCol="0" anchor="ctr"/>
          <a:lstStyle/>
          <a:p>
            <a:pPr algn="ctr"/>
            <a:r>
              <a:rPr lang="en-US" sz="1400" dirty="0">
                <a:solidFill>
                  <a:srgbClr val="888888"/>
                </a:solidFill>
                <a:latin typeface="Calibri" pitchFamily="34" charset="0"/>
                <a:ea typeface="Calibri" pitchFamily="34" charset="-122"/>
                <a:cs typeface="Calibri" pitchFamily="34" charset="-120"/>
              </a:rPr>
              <a:t>lives lost</a:t>
            </a:r>
            <a:endParaRPr lang="en-US" sz="1400" dirty="0"/>
          </a:p>
        </p:txBody>
      </p:sp>
      <p:sp>
        <p:nvSpPr>
          <p:cNvPr id="28" name="Text 26"/>
          <p:cNvSpPr/>
          <p:nvPr/>
        </p:nvSpPr>
        <p:spPr>
          <a:xfrm>
            <a:off x="7535284" y="1810795"/>
            <a:ext cx="1280160" cy="438912"/>
          </a:xfrm>
          <a:prstGeom prst="rect">
            <a:avLst/>
          </a:prstGeom>
          <a:noFill/>
          <a:ln/>
        </p:spPr>
        <p:txBody>
          <a:bodyPr wrap="square" lIns="0" tIns="0" rIns="0" bIns="0" rtlCol="0" anchor="ctr"/>
          <a:lstStyle/>
          <a:p>
            <a:pPr algn="ctr"/>
            <a:r>
              <a:rPr lang="en-US" sz="2133" b="1" dirty="0">
                <a:solidFill>
                  <a:srgbClr val="00B0F0"/>
                </a:solidFill>
                <a:latin typeface="Calibri" pitchFamily="34" charset="0"/>
                <a:ea typeface="Calibri" pitchFamily="34" charset="-122"/>
                <a:cs typeface="Calibri" pitchFamily="34" charset="-120"/>
              </a:rPr>
              <a:t>752,964</a:t>
            </a:r>
          </a:p>
        </p:txBody>
      </p:sp>
      <p:sp>
        <p:nvSpPr>
          <p:cNvPr id="29" name="Text 27"/>
          <p:cNvSpPr/>
          <p:nvPr/>
        </p:nvSpPr>
        <p:spPr>
          <a:xfrm>
            <a:off x="7516527" y="2181243"/>
            <a:ext cx="1280160" cy="268224"/>
          </a:xfrm>
          <a:prstGeom prst="rect">
            <a:avLst/>
          </a:prstGeom>
          <a:noFill/>
          <a:ln/>
        </p:spPr>
        <p:txBody>
          <a:bodyPr wrap="square" lIns="0" tIns="0" rIns="0" bIns="0" rtlCol="0" anchor="ctr"/>
          <a:lstStyle/>
          <a:p>
            <a:pPr algn="ctr"/>
            <a:r>
              <a:rPr lang="en-US" sz="1400">
                <a:solidFill>
                  <a:srgbClr val="888888"/>
                </a:solidFill>
                <a:latin typeface="Calibri" pitchFamily="34" charset="0"/>
                <a:ea typeface="Calibri" pitchFamily="34" charset="-122"/>
                <a:cs typeface="Calibri" pitchFamily="34" charset="-120"/>
              </a:rPr>
              <a:t>displaced</a:t>
            </a:r>
            <a:endParaRPr lang="en-US" sz="1400" dirty="0">
              <a:solidFill>
                <a:srgbClr val="888888"/>
              </a:solidFill>
              <a:latin typeface="Calibri" pitchFamily="34" charset="0"/>
              <a:ea typeface="Calibri" pitchFamily="34" charset="-122"/>
              <a:cs typeface="Calibri" pitchFamily="34" charset="-120"/>
            </a:endParaRPr>
          </a:p>
        </p:txBody>
      </p:sp>
      <p:sp>
        <p:nvSpPr>
          <p:cNvPr id="30" name="Text 28"/>
          <p:cNvSpPr/>
          <p:nvPr/>
        </p:nvSpPr>
        <p:spPr>
          <a:xfrm>
            <a:off x="8907353" y="1810795"/>
            <a:ext cx="1280160" cy="438912"/>
          </a:xfrm>
          <a:prstGeom prst="rect">
            <a:avLst/>
          </a:prstGeom>
          <a:noFill/>
          <a:ln/>
        </p:spPr>
        <p:txBody>
          <a:bodyPr wrap="square" lIns="0" tIns="0" rIns="0" bIns="0" rtlCol="0" anchor="ctr"/>
          <a:lstStyle/>
          <a:p>
            <a:pPr algn="ctr"/>
            <a:r>
              <a:rPr lang="en-US" sz="2133" b="1" dirty="0">
                <a:solidFill>
                  <a:srgbClr val="00B0F0"/>
                </a:solidFill>
                <a:latin typeface="Calibri" pitchFamily="34" charset="0"/>
                <a:ea typeface="Calibri" pitchFamily="34" charset="-122"/>
                <a:cs typeface="Calibri" pitchFamily="34" charset="-120"/>
              </a:rPr>
              <a:t>121,768</a:t>
            </a:r>
          </a:p>
        </p:txBody>
      </p:sp>
      <p:sp>
        <p:nvSpPr>
          <p:cNvPr id="31" name="Text 29"/>
          <p:cNvSpPr/>
          <p:nvPr/>
        </p:nvSpPr>
        <p:spPr>
          <a:xfrm>
            <a:off x="8888596" y="2181243"/>
            <a:ext cx="1280160" cy="268224"/>
          </a:xfrm>
          <a:prstGeom prst="rect">
            <a:avLst/>
          </a:prstGeom>
          <a:noFill/>
          <a:ln/>
        </p:spPr>
        <p:txBody>
          <a:bodyPr wrap="square" lIns="0" tIns="0" rIns="0" bIns="0" rtlCol="0" anchor="ctr"/>
          <a:lstStyle/>
          <a:p>
            <a:pPr algn="ctr"/>
            <a:r>
              <a:rPr lang="en-US" sz="1400">
                <a:solidFill>
                  <a:srgbClr val="888888"/>
                </a:solidFill>
                <a:latin typeface="Calibri" pitchFamily="34" charset="0"/>
                <a:ea typeface="Calibri" pitchFamily="34" charset="-122"/>
                <a:cs typeface="Calibri" pitchFamily="34" charset="-120"/>
              </a:rPr>
              <a:t>disappeared</a:t>
            </a:r>
            <a:endParaRPr lang="en-US" sz="1400" dirty="0">
              <a:solidFill>
                <a:srgbClr val="888888"/>
              </a:solidFill>
              <a:latin typeface="Calibri" pitchFamily="34" charset="0"/>
              <a:ea typeface="Calibri" pitchFamily="34" charset="-122"/>
              <a:cs typeface="Calibri" pitchFamily="34" charset="-120"/>
            </a:endParaRPr>
          </a:p>
        </p:txBody>
      </p:sp>
      <p:sp>
        <p:nvSpPr>
          <p:cNvPr id="32" name="Text 30"/>
          <p:cNvSpPr/>
          <p:nvPr/>
        </p:nvSpPr>
        <p:spPr>
          <a:xfrm>
            <a:off x="10225028" y="1820121"/>
            <a:ext cx="1280160" cy="438912"/>
          </a:xfrm>
          <a:prstGeom prst="rect">
            <a:avLst/>
          </a:prstGeom>
          <a:noFill/>
          <a:ln/>
        </p:spPr>
        <p:txBody>
          <a:bodyPr wrap="square" lIns="0" tIns="0" rIns="0" bIns="0" rtlCol="0" anchor="ctr"/>
          <a:lstStyle/>
          <a:p>
            <a:pPr algn="ctr"/>
            <a:r>
              <a:rPr lang="en-US" sz="2133" b="1" dirty="0">
                <a:solidFill>
                  <a:srgbClr val="00B0F0"/>
                </a:solidFill>
                <a:latin typeface="Calibri" pitchFamily="34" charset="0"/>
                <a:ea typeface="Calibri" pitchFamily="34" charset="-122"/>
                <a:cs typeface="Calibri" pitchFamily="34" charset="-120"/>
              </a:rPr>
              <a:t>50,770</a:t>
            </a:r>
          </a:p>
        </p:txBody>
      </p:sp>
      <p:sp>
        <p:nvSpPr>
          <p:cNvPr id="33" name="Text 31"/>
          <p:cNvSpPr/>
          <p:nvPr/>
        </p:nvSpPr>
        <p:spPr>
          <a:xfrm>
            <a:off x="10206271" y="2190569"/>
            <a:ext cx="1280160" cy="268224"/>
          </a:xfrm>
          <a:prstGeom prst="rect">
            <a:avLst/>
          </a:prstGeom>
          <a:noFill/>
          <a:ln/>
        </p:spPr>
        <p:txBody>
          <a:bodyPr wrap="square" lIns="0" tIns="0" rIns="0" bIns="0" rtlCol="0" anchor="ctr"/>
          <a:lstStyle/>
          <a:p>
            <a:pPr algn="ctr"/>
            <a:r>
              <a:rPr lang="en-US" sz="1400" dirty="0">
                <a:solidFill>
                  <a:srgbClr val="888888"/>
                </a:solidFill>
                <a:latin typeface="Calibri" pitchFamily="34" charset="0"/>
                <a:ea typeface="Calibri" pitchFamily="34" charset="-122"/>
                <a:cs typeface="Calibri" pitchFamily="34" charset="-120"/>
              </a:rPr>
              <a:t>kidnapped</a:t>
            </a:r>
          </a:p>
        </p:txBody>
      </p:sp>
      <p:sp>
        <p:nvSpPr>
          <p:cNvPr id="34" name="Shape 32"/>
          <p:cNvSpPr/>
          <p:nvPr/>
        </p:nvSpPr>
        <p:spPr>
          <a:xfrm>
            <a:off x="6018471" y="1154488"/>
            <a:ext cx="0" cy="5054993"/>
          </a:xfrm>
          <a:prstGeom prst="line">
            <a:avLst/>
          </a:prstGeom>
          <a:noFill/>
          <a:ln w="9525">
            <a:solidFill>
              <a:srgbClr val="DDDDDD"/>
            </a:solidFill>
            <a:prstDash val="solid"/>
          </a:ln>
        </p:spPr>
        <p:txBody>
          <a:bodyPr/>
          <a:lstStyle/>
          <a:p>
            <a:endParaRPr lang="es-CO" sz="2400"/>
          </a:p>
        </p:txBody>
      </p:sp>
      <p:sp>
        <p:nvSpPr>
          <p:cNvPr id="35" name="Text 33"/>
          <p:cNvSpPr/>
          <p:nvPr/>
        </p:nvSpPr>
        <p:spPr>
          <a:xfrm>
            <a:off x="6339844" y="2864192"/>
            <a:ext cx="5364480" cy="268224"/>
          </a:xfrm>
          <a:prstGeom prst="rect">
            <a:avLst/>
          </a:prstGeom>
          <a:noFill/>
          <a:ln/>
        </p:spPr>
        <p:txBody>
          <a:bodyPr wrap="square" lIns="0" tIns="0" rIns="0" bIns="0" rtlCol="0" anchor="ctr"/>
          <a:lstStyle/>
          <a:p>
            <a:r>
              <a:rPr lang="en-US" sz="1200" b="1" kern="0" spc="133" dirty="0">
                <a:solidFill>
                  <a:srgbClr val="888888"/>
                </a:solidFill>
                <a:latin typeface="Calibri" pitchFamily="34" charset="0"/>
                <a:ea typeface="Calibri" pitchFamily="34" charset="-122"/>
                <a:cs typeface="Calibri" pitchFamily="34" charset="-120"/>
              </a:rPr>
              <a:t>WHY THIS CASE IS IDEAL</a:t>
            </a:r>
            <a:endParaRPr lang="en-US" sz="1200" dirty="0"/>
          </a:p>
        </p:txBody>
      </p:sp>
      <p:sp>
        <p:nvSpPr>
          <p:cNvPr id="36" name="Shape 34"/>
          <p:cNvSpPr/>
          <p:nvPr/>
        </p:nvSpPr>
        <p:spPr>
          <a:xfrm>
            <a:off x="6307013" y="3474255"/>
            <a:ext cx="121920" cy="121920"/>
          </a:xfrm>
          <a:prstGeom prst="ellipse">
            <a:avLst/>
          </a:prstGeom>
          <a:solidFill>
            <a:srgbClr val="1A1A1A"/>
          </a:solidFill>
          <a:ln w="12700">
            <a:solidFill>
              <a:srgbClr val="1A1A1A"/>
            </a:solidFill>
            <a:prstDash val="solid"/>
          </a:ln>
        </p:spPr>
        <p:txBody>
          <a:bodyPr/>
          <a:lstStyle/>
          <a:p>
            <a:endParaRPr lang="es-CO" sz="2400"/>
          </a:p>
        </p:txBody>
      </p:sp>
      <p:sp>
        <p:nvSpPr>
          <p:cNvPr id="37" name="Text 35"/>
          <p:cNvSpPr/>
          <p:nvPr/>
        </p:nvSpPr>
        <p:spPr>
          <a:xfrm>
            <a:off x="6550853" y="3297937"/>
            <a:ext cx="5059680" cy="585216"/>
          </a:xfrm>
          <a:prstGeom prst="rect">
            <a:avLst/>
          </a:prstGeom>
          <a:noFill/>
          <a:ln/>
        </p:spPr>
        <p:txBody>
          <a:bodyPr wrap="square" lIns="0" tIns="0" rIns="0" bIns="0" rtlCol="0" anchor="ctr"/>
          <a:lstStyle/>
          <a:p>
            <a:r>
              <a:rPr lang="en-US" sz="1400" dirty="0">
                <a:solidFill>
                  <a:srgbClr val="333333"/>
                </a:solidFill>
                <a:latin typeface="Calibri" pitchFamily="34" charset="0"/>
                <a:ea typeface="Calibri" pitchFamily="34" charset="-122"/>
                <a:cs typeface="Calibri" pitchFamily="34" charset="-120"/>
              </a:rPr>
              <a:t>The longest conflict in the Western Hemisphere that has been extensively studied, but higher education is unexplored</a:t>
            </a:r>
            <a:endParaRPr lang="en-US" sz="1400" dirty="0"/>
          </a:p>
        </p:txBody>
      </p:sp>
      <p:sp>
        <p:nvSpPr>
          <p:cNvPr id="38" name="Shape 36"/>
          <p:cNvSpPr/>
          <p:nvPr/>
        </p:nvSpPr>
        <p:spPr>
          <a:xfrm>
            <a:off x="6307013" y="4099497"/>
            <a:ext cx="121920" cy="121920"/>
          </a:xfrm>
          <a:prstGeom prst="ellipse">
            <a:avLst/>
          </a:prstGeom>
          <a:solidFill>
            <a:srgbClr val="1A1A1A"/>
          </a:solidFill>
          <a:ln w="12700">
            <a:solidFill>
              <a:srgbClr val="1A1A1A"/>
            </a:solidFill>
            <a:prstDash val="solid"/>
          </a:ln>
        </p:spPr>
        <p:txBody>
          <a:bodyPr/>
          <a:lstStyle/>
          <a:p>
            <a:endParaRPr lang="es-CO" sz="2400"/>
          </a:p>
        </p:txBody>
      </p:sp>
      <p:sp>
        <p:nvSpPr>
          <p:cNvPr id="39" name="Text 37"/>
          <p:cNvSpPr/>
          <p:nvPr/>
        </p:nvSpPr>
        <p:spPr>
          <a:xfrm>
            <a:off x="6550853" y="3935684"/>
            <a:ext cx="5059680" cy="585216"/>
          </a:xfrm>
          <a:prstGeom prst="rect">
            <a:avLst/>
          </a:prstGeom>
          <a:noFill/>
          <a:ln/>
        </p:spPr>
        <p:txBody>
          <a:bodyPr wrap="square" lIns="0" tIns="0" rIns="0" bIns="0" rtlCol="0" anchor="ctr"/>
          <a:lstStyle/>
          <a:p>
            <a:r>
              <a:rPr lang="en-US" sz="1400" dirty="0">
                <a:solidFill>
                  <a:srgbClr val="333333"/>
                </a:solidFill>
                <a:latin typeface="Calibri" pitchFamily="34" charset="0"/>
                <a:ea typeface="Calibri" pitchFamily="34" charset="-122"/>
                <a:cs typeface="Calibri" pitchFamily="34" charset="-120"/>
              </a:rPr>
              <a:t>Peace agreement provides a clear exogenous shock for causal identification</a:t>
            </a:r>
            <a:endParaRPr lang="en-US" sz="1400" dirty="0"/>
          </a:p>
        </p:txBody>
      </p:sp>
      <p:sp>
        <p:nvSpPr>
          <p:cNvPr id="40" name="Shape 38"/>
          <p:cNvSpPr/>
          <p:nvPr/>
        </p:nvSpPr>
        <p:spPr>
          <a:xfrm>
            <a:off x="6307013" y="4732225"/>
            <a:ext cx="121920" cy="121920"/>
          </a:xfrm>
          <a:prstGeom prst="ellipse">
            <a:avLst/>
          </a:prstGeom>
          <a:solidFill>
            <a:srgbClr val="1A1A1A"/>
          </a:solidFill>
          <a:ln w="12700">
            <a:solidFill>
              <a:srgbClr val="1A1A1A"/>
            </a:solidFill>
            <a:prstDash val="solid"/>
          </a:ln>
        </p:spPr>
        <p:txBody>
          <a:bodyPr/>
          <a:lstStyle/>
          <a:p>
            <a:endParaRPr lang="es-CO" sz="2400"/>
          </a:p>
        </p:txBody>
      </p:sp>
      <p:sp>
        <p:nvSpPr>
          <p:cNvPr id="41" name="Text 39"/>
          <p:cNvSpPr/>
          <p:nvPr/>
        </p:nvSpPr>
        <p:spPr>
          <a:xfrm>
            <a:off x="6550853" y="4483380"/>
            <a:ext cx="5059680" cy="585216"/>
          </a:xfrm>
          <a:prstGeom prst="rect">
            <a:avLst/>
          </a:prstGeom>
          <a:noFill/>
          <a:ln/>
        </p:spPr>
        <p:txBody>
          <a:bodyPr wrap="square" lIns="0" tIns="0" rIns="0" bIns="0" rtlCol="0" anchor="ctr"/>
          <a:lstStyle/>
          <a:p>
            <a:r>
              <a:rPr lang="en-US" sz="1400" dirty="0">
                <a:solidFill>
                  <a:srgbClr val="333333"/>
                </a:solidFill>
                <a:latin typeface="Calibri" pitchFamily="34" charset="0"/>
                <a:ea typeface="Calibri" pitchFamily="34" charset="-122"/>
                <a:cs typeface="Calibri" pitchFamily="34" charset="-120"/>
              </a:rPr>
              <a:t>Rich municipal and individual-level data from public institutions</a:t>
            </a:r>
            <a:endParaRPr lang="en-US" sz="1400" dirty="0"/>
          </a:p>
        </p:txBody>
      </p:sp>
      <p:sp>
        <p:nvSpPr>
          <p:cNvPr id="42" name="Shape 40"/>
          <p:cNvSpPr/>
          <p:nvPr/>
        </p:nvSpPr>
        <p:spPr>
          <a:xfrm>
            <a:off x="6307013" y="5366903"/>
            <a:ext cx="121920" cy="121920"/>
          </a:xfrm>
          <a:prstGeom prst="ellipse">
            <a:avLst/>
          </a:prstGeom>
          <a:solidFill>
            <a:srgbClr val="1A1A1A"/>
          </a:solidFill>
          <a:ln w="12700">
            <a:solidFill>
              <a:srgbClr val="1A1A1A"/>
            </a:solidFill>
            <a:prstDash val="solid"/>
          </a:ln>
        </p:spPr>
        <p:txBody>
          <a:bodyPr/>
          <a:lstStyle/>
          <a:p>
            <a:endParaRPr lang="es-CO" sz="2400"/>
          </a:p>
        </p:txBody>
      </p:sp>
      <p:sp>
        <p:nvSpPr>
          <p:cNvPr id="43" name="Text 41"/>
          <p:cNvSpPr/>
          <p:nvPr/>
        </p:nvSpPr>
        <p:spPr>
          <a:xfrm>
            <a:off x="6550853" y="5134313"/>
            <a:ext cx="5059680" cy="585216"/>
          </a:xfrm>
          <a:prstGeom prst="rect">
            <a:avLst/>
          </a:prstGeom>
          <a:noFill/>
          <a:ln/>
        </p:spPr>
        <p:txBody>
          <a:bodyPr wrap="square" lIns="0" tIns="0" rIns="0" bIns="0" rtlCol="0" anchor="ctr"/>
          <a:lstStyle/>
          <a:p>
            <a:r>
              <a:rPr lang="en-US" sz="1400" dirty="0">
                <a:solidFill>
                  <a:srgbClr val="333333"/>
                </a:solidFill>
                <a:latin typeface="Calibri" pitchFamily="34" charset="0"/>
                <a:ea typeface="Calibri" pitchFamily="34" charset="-122"/>
                <a:cs typeface="Calibri" pitchFamily="34" charset="-120"/>
              </a:rPr>
              <a:t>Prior studies confirm effects on primary/secondary, and this study will extend the evidence upward</a:t>
            </a:r>
            <a:endParaRPr lang="en-US" sz="1400" dirty="0"/>
          </a:p>
        </p:txBody>
      </p:sp>
      <p:sp>
        <p:nvSpPr>
          <p:cNvPr id="49" name="Shape 10">
            <a:extLst>
              <a:ext uri="{FF2B5EF4-FFF2-40B4-BE49-F238E27FC236}">
                <a16:creationId xmlns:a16="http://schemas.microsoft.com/office/drawing/2014/main" id="{C021AFE6-0123-C387-76FA-0049A5F1559F}"/>
              </a:ext>
            </a:extLst>
          </p:cNvPr>
          <p:cNvSpPr/>
          <p:nvPr/>
        </p:nvSpPr>
        <p:spPr>
          <a:xfrm>
            <a:off x="670560" y="6248400"/>
            <a:ext cx="10850880" cy="0"/>
          </a:xfrm>
          <a:prstGeom prst="line">
            <a:avLst/>
          </a:prstGeom>
          <a:noFill/>
          <a:ln w="9525">
            <a:solidFill>
              <a:srgbClr val="DDDDDD"/>
            </a:solidFill>
            <a:prstDash val="solid"/>
          </a:ln>
        </p:spPr>
        <p:txBody>
          <a:bodyPr/>
          <a:lstStyle/>
          <a:p>
            <a:endParaRPr lang="es-CO" sz="2400"/>
          </a:p>
        </p:txBody>
      </p:sp>
      <p:sp>
        <p:nvSpPr>
          <p:cNvPr id="50" name="Text 11">
            <a:extLst>
              <a:ext uri="{FF2B5EF4-FFF2-40B4-BE49-F238E27FC236}">
                <a16:creationId xmlns:a16="http://schemas.microsoft.com/office/drawing/2014/main" id="{E041319D-42ED-EB6A-8E9E-38423D41A3F4}"/>
              </a:ext>
            </a:extLst>
          </p:cNvPr>
          <p:cNvSpPr/>
          <p:nvPr/>
        </p:nvSpPr>
        <p:spPr>
          <a:xfrm>
            <a:off x="365760" y="6321552"/>
            <a:ext cx="2255520" cy="414528"/>
          </a:xfrm>
          <a:prstGeom prst="rect">
            <a:avLst/>
          </a:prstGeom>
          <a:noFill/>
          <a:ln/>
        </p:spPr>
        <p:txBody>
          <a:bodyPr wrap="square" lIns="0" tIns="0" rIns="0" bIns="0" rtlCol="0" anchor="ctr"/>
          <a:lstStyle/>
          <a:p>
            <a:r>
              <a:rPr lang="en-US" sz="1133" dirty="0">
                <a:solidFill>
                  <a:schemeClr val="bg2">
                    <a:lumMod val="90000"/>
                  </a:schemeClr>
                </a:solidFill>
                <a:latin typeface="Calibri" pitchFamily="34" charset="0"/>
                <a:ea typeface="Calibri" pitchFamily="34" charset="-122"/>
                <a:cs typeface="Calibri" pitchFamily="34" charset="-120"/>
              </a:rPr>
              <a:t>1. Motivation</a:t>
            </a:r>
          </a:p>
        </p:txBody>
      </p:sp>
      <p:sp>
        <p:nvSpPr>
          <p:cNvPr id="51" name="Text 12">
            <a:extLst>
              <a:ext uri="{FF2B5EF4-FFF2-40B4-BE49-F238E27FC236}">
                <a16:creationId xmlns:a16="http://schemas.microsoft.com/office/drawing/2014/main" id="{D3B4CD69-679A-EFC6-20E7-CBBA122A8346}"/>
              </a:ext>
            </a:extLst>
          </p:cNvPr>
          <p:cNvSpPr/>
          <p:nvPr/>
        </p:nvSpPr>
        <p:spPr>
          <a:xfrm>
            <a:off x="2657856" y="6321552"/>
            <a:ext cx="2255520" cy="414528"/>
          </a:xfrm>
          <a:prstGeom prst="rect">
            <a:avLst/>
          </a:prstGeom>
          <a:noFill/>
          <a:ln/>
        </p:spPr>
        <p:txBody>
          <a:bodyPr wrap="square" lIns="0" tIns="0" rIns="0" bIns="0" rtlCol="0" anchor="ctr"/>
          <a:lstStyle/>
          <a:p>
            <a:r>
              <a:rPr lang="en-US" sz="1133" dirty="0">
                <a:solidFill>
                  <a:srgbClr val="00B0F0"/>
                </a:solidFill>
                <a:latin typeface="Calibri" pitchFamily="34" charset="0"/>
                <a:ea typeface="Calibri" pitchFamily="34" charset="-122"/>
                <a:cs typeface="Calibri" pitchFamily="34" charset="-120"/>
              </a:rPr>
              <a:t>2. Context</a:t>
            </a:r>
            <a:endParaRPr lang="en-US" sz="1133" dirty="0">
              <a:solidFill>
                <a:srgbClr val="00B0F0"/>
              </a:solidFill>
            </a:endParaRPr>
          </a:p>
        </p:txBody>
      </p:sp>
      <p:sp>
        <p:nvSpPr>
          <p:cNvPr id="52" name="Text 13">
            <a:extLst>
              <a:ext uri="{FF2B5EF4-FFF2-40B4-BE49-F238E27FC236}">
                <a16:creationId xmlns:a16="http://schemas.microsoft.com/office/drawing/2014/main" id="{755EAD81-A6EF-2E14-17F3-3411320C83A5}"/>
              </a:ext>
            </a:extLst>
          </p:cNvPr>
          <p:cNvSpPr/>
          <p:nvPr/>
        </p:nvSpPr>
        <p:spPr>
          <a:xfrm>
            <a:off x="4949952" y="6321552"/>
            <a:ext cx="2255520" cy="414528"/>
          </a:xfrm>
          <a:prstGeom prst="rect">
            <a:avLst/>
          </a:prstGeom>
          <a:noFill/>
          <a:ln/>
        </p:spPr>
        <p:txBody>
          <a:bodyPr wrap="square" lIns="0" tIns="0" rIns="0" bIns="0" rtlCol="0" anchor="ctr"/>
          <a:lstStyle/>
          <a:p>
            <a:r>
              <a:rPr lang="en-US" sz="1133" dirty="0">
                <a:solidFill>
                  <a:schemeClr val="bg2">
                    <a:lumMod val="90000"/>
                  </a:schemeClr>
                </a:solidFill>
                <a:latin typeface="Calibri" pitchFamily="34" charset="0"/>
                <a:ea typeface="Calibri" pitchFamily="34" charset="-122"/>
                <a:cs typeface="Calibri" pitchFamily="34" charset="-120"/>
              </a:rPr>
              <a:t>3. Research Design</a:t>
            </a:r>
            <a:endParaRPr lang="en-US" sz="1133" dirty="0">
              <a:solidFill>
                <a:schemeClr val="bg2">
                  <a:lumMod val="90000"/>
                </a:schemeClr>
              </a:solidFill>
            </a:endParaRPr>
          </a:p>
        </p:txBody>
      </p:sp>
      <p:sp>
        <p:nvSpPr>
          <p:cNvPr id="53" name="Text 14">
            <a:extLst>
              <a:ext uri="{FF2B5EF4-FFF2-40B4-BE49-F238E27FC236}">
                <a16:creationId xmlns:a16="http://schemas.microsoft.com/office/drawing/2014/main" id="{A45DBB7B-D96C-CEDB-1E2E-ED285F39A0B8}"/>
              </a:ext>
            </a:extLst>
          </p:cNvPr>
          <p:cNvSpPr/>
          <p:nvPr/>
        </p:nvSpPr>
        <p:spPr>
          <a:xfrm>
            <a:off x="7242048" y="6321552"/>
            <a:ext cx="2255520" cy="414528"/>
          </a:xfrm>
          <a:prstGeom prst="rect">
            <a:avLst/>
          </a:prstGeom>
          <a:noFill/>
          <a:ln/>
        </p:spPr>
        <p:txBody>
          <a:bodyPr wrap="square" lIns="0" tIns="0" rIns="0" bIns="0" rtlCol="0" anchor="ctr"/>
          <a:lstStyle/>
          <a:p>
            <a:r>
              <a:rPr lang="en-US" sz="1133" dirty="0">
                <a:solidFill>
                  <a:schemeClr val="bg2">
                    <a:lumMod val="90000"/>
                  </a:schemeClr>
                </a:solidFill>
                <a:latin typeface="Calibri" pitchFamily="34" charset="0"/>
                <a:ea typeface="Calibri" pitchFamily="34" charset="-122"/>
                <a:cs typeface="Calibri" pitchFamily="34" charset="-120"/>
              </a:rPr>
              <a:t>4. Challenges and limitations</a:t>
            </a:r>
            <a:endParaRPr lang="en-US" sz="1133" dirty="0">
              <a:solidFill>
                <a:schemeClr val="bg2">
                  <a:lumMod val="90000"/>
                </a:schemeClr>
              </a:solidFill>
            </a:endParaRPr>
          </a:p>
        </p:txBody>
      </p:sp>
      <p:sp>
        <p:nvSpPr>
          <p:cNvPr id="54" name="Text 15">
            <a:extLst>
              <a:ext uri="{FF2B5EF4-FFF2-40B4-BE49-F238E27FC236}">
                <a16:creationId xmlns:a16="http://schemas.microsoft.com/office/drawing/2014/main" id="{4D4D622C-2E54-5A4D-DEEC-54B1E0924CFB}"/>
              </a:ext>
            </a:extLst>
          </p:cNvPr>
          <p:cNvSpPr/>
          <p:nvPr/>
        </p:nvSpPr>
        <p:spPr>
          <a:xfrm>
            <a:off x="9534144" y="6321552"/>
            <a:ext cx="2255520" cy="414528"/>
          </a:xfrm>
          <a:prstGeom prst="rect">
            <a:avLst/>
          </a:prstGeom>
          <a:noFill/>
          <a:ln/>
        </p:spPr>
        <p:txBody>
          <a:bodyPr wrap="square" lIns="0" tIns="0" rIns="0" bIns="0" rtlCol="0" anchor="ctr"/>
          <a:lstStyle/>
          <a:p>
            <a:r>
              <a:rPr lang="en-US" sz="1133" dirty="0">
                <a:solidFill>
                  <a:schemeClr val="bg2">
                    <a:lumMod val="90000"/>
                  </a:schemeClr>
                </a:solidFill>
                <a:latin typeface="Calibri" pitchFamily="34" charset="0"/>
                <a:ea typeface="Calibri" pitchFamily="34" charset="-122"/>
                <a:cs typeface="Calibri" pitchFamily="34" charset="-120"/>
              </a:rPr>
              <a:t>5. Next Steps</a:t>
            </a:r>
            <a:endParaRPr lang="en-US" sz="1133" dirty="0">
              <a:solidFill>
                <a:schemeClr val="bg2">
                  <a:lumMod val="90000"/>
                </a:schemeClr>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BA6A2A-6C31-AA94-9F91-6108DE8AED7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1BC9D05-A12F-91DA-45CC-F669ECD525E2}"/>
              </a:ext>
            </a:extLst>
          </p:cNvPr>
          <p:cNvSpPr/>
          <p:nvPr/>
        </p:nvSpPr>
        <p:spPr>
          <a:xfrm>
            <a:off x="853440" y="362543"/>
            <a:ext cx="10728960" cy="633984"/>
          </a:xfrm>
          <a:prstGeom prst="rect">
            <a:avLst/>
          </a:prstGeom>
          <a:noFill/>
          <a:ln/>
        </p:spPr>
        <p:txBody>
          <a:bodyPr wrap="square" lIns="0" tIns="0" rIns="0" bIns="0" rtlCol="0" anchor="ctr"/>
          <a:lstStyle/>
          <a:p>
            <a:r>
              <a:rPr lang="en-US" sz="3733" b="1" dirty="0">
                <a:solidFill>
                  <a:srgbClr val="002060"/>
                </a:solidFill>
                <a:latin typeface="Calibri" pitchFamily="34" charset="0"/>
                <a:ea typeface="Calibri" pitchFamily="34" charset="-122"/>
                <a:cs typeface="Calibri" pitchFamily="34" charset="-120"/>
              </a:rPr>
              <a:t>Context: Has violence declined?</a:t>
            </a:r>
            <a:endParaRPr lang="en-US" sz="3733" dirty="0">
              <a:solidFill>
                <a:srgbClr val="002060"/>
              </a:solidFill>
            </a:endParaRPr>
          </a:p>
        </p:txBody>
      </p:sp>
      <p:sp>
        <p:nvSpPr>
          <p:cNvPr id="3" name="Shape 1">
            <a:extLst>
              <a:ext uri="{FF2B5EF4-FFF2-40B4-BE49-F238E27FC236}">
                <a16:creationId xmlns:a16="http://schemas.microsoft.com/office/drawing/2014/main" id="{8AC21910-38EB-F64F-09F1-BCA8B27908AE}"/>
              </a:ext>
            </a:extLst>
          </p:cNvPr>
          <p:cNvSpPr/>
          <p:nvPr/>
        </p:nvSpPr>
        <p:spPr>
          <a:xfrm>
            <a:off x="670560" y="1024128"/>
            <a:ext cx="10850880" cy="0"/>
          </a:xfrm>
          <a:prstGeom prst="line">
            <a:avLst/>
          </a:prstGeom>
          <a:noFill/>
          <a:ln w="9525">
            <a:solidFill>
              <a:srgbClr val="DDDDDD"/>
            </a:solidFill>
            <a:prstDash val="solid"/>
          </a:ln>
        </p:spPr>
        <p:txBody>
          <a:bodyPr/>
          <a:lstStyle/>
          <a:p>
            <a:endParaRPr lang="es-CO" sz="2400"/>
          </a:p>
        </p:txBody>
      </p:sp>
      <p:sp>
        <p:nvSpPr>
          <p:cNvPr id="49" name="Shape 10">
            <a:extLst>
              <a:ext uri="{FF2B5EF4-FFF2-40B4-BE49-F238E27FC236}">
                <a16:creationId xmlns:a16="http://schemas.microsoft.com/office/drawing/2014/main" id="{82133D85-7806-09E7-0711-63796A58AE7B}"/>
              </a:ext>
            </a:extLst>
          </p:cNvPr>
          <p:cNvSpPr/>
          <p:nvPr/>
        </p:nvSpPr>
        <p:spPr>
          <a:xfrm>
            <a:off x="731520" y="6248400"/>
            <a:ext cx="10850880" cy="0"/>
          </a:xfrm>
          <a:prstGeom prst="line">
            <a:avLst/>
          </a:prstGeom>
          <a:noFill/>
          <a:ln w="9525">
            <a:solidFill>
              <a:srgbClr val="DDDDDD"/>
            </a:solidFill>
            <a:prstDash val="solid"/>
          </a:ln>
        </p:spPr>
        <p:txBody>
          <a:bodyPr/>
          <a:lstStyle/>
          <a:p>
            <a:endParaRPr lang="es-CO" sz="2400"/>
          </a:p>
        </p:txBody>
      </p:sp>
      <p:sp>
        <p:nvSpPr>
          <p:cNvPr id="50" name="Text 11">
            <a:extLst>
              <a:ext uri="{FF2B5EF4-FFF2-40B4-BE49-F238E27FC236}">
                <a16:creationId xmlns:a16="http://schemas.microsoft.com/office/drawing/2014/main" id="{CDD582EF-4F4D-DAD2-48D5-9E6ADD837CFC}"/>
              </a:ext>
            </a:extLst>
          </p:cNvPr>
          <p:cNvSpPr/>
          <p:nvPr/>
        </p:nvSpPr>
        <p:spPr>
          <a:xfrm>
            <a:off x="365760" y="6321552"/>
            <a:ext cx="2255520" cy="414528"/>
          </a:xfrm>
          <a:prstGeom prst="rect">
            <a:avLst/>
          </a:prstGeom>
          <a:noFill/>
          <a:ln/>
        </p:spPr>
        <p:txBody>
          <a:bodyPr wrap="square" lIns="0" tIns="0" rIns="0" bIns="0" rtlCol="0" anchor="ctr"/>
          <a:lstStyle/>
          <a:p>
            <a:r>
              <a:rPr lang="en-US" sz="1133" dirty="0">
                <a:solidFill>
                  <a:schemeClr val="bg2">
                    <a:lumMod val="90000"/>
                  </a:schemeClr>
                </a:solidFill>
                <a:latin typeface="Calibri" pitchFamily="34" charset="0"/>
                <a:ea typeface="Calibri" pitchFamily="34" charset="-122"/>
                <a:cs typeface="Calibri" pitchFamily="34" charset="-120"/>
              </a:rPr>
              <a:t>1. Motivation</a:t>
            </a:r>
          </a:p>
        </p:txBody>
      </p:sp>
      <p:sp>
        <p:nvSpPr>
          <p:cNvPr id="51" name="Text 12">
            <a:extLst>
              <a:ext uri="{FF2B5EF4-FFF2-40B4-BE49-F238E27FC236}">
                <a16:creationId xmlns:a16="http://schemas.microsoft.com/office/drawing/2014/main" id="{FBA36947-85CD-737A-3BC7-585B4EA4F4D1}"/>
              </a:ext>
            </a:extLst>
          </p:cNvPr>
          <p:cNvSpPr/>
          <p:nvPr/>
        </p:nvSpPr>
        <p:spPr>
          <a:xfrm>
            <a:off x="2657856" y="6321552"/>
            <a:ext cx="2255520" cy="414528"/>
          </a:xfrm>
          <a:prstGeom prst="rect">
            <a:avLst/>
          </a:prstGeom>
          <a:noFill/>
          <a:ln/>
        </p:spPr>
        <p:txBody>
          <a:bodyPr wrap="square" lIns="0" tIns="0" rIns="0" bIns="0" rtlCol="0" anchor="ctr"/>
          <a:lstStyle/>
          <a:p>
            <a:r>
              <a:rPr lang="en-US" sz="1133" dirty="0">
                <a:solidFill>
                  <a:srgbClr val="00B0F0"/>
                </a:solidFill>
                <a:latin typeface="Calibri" pitchFamily="34" charset="0"/>
                <a:ea typeface="Calibri" pitchFamily="34" charset="-122"/>
                <a:cs typeface="Calibri" pitchFamily="34" charset="-120"/>
              </a:rPr>
              <a:t>2. Context</a:t>
            </a:r>
            <a:endParaRPr lang="en-US" sz="1133" dirty="0">
              <a:solidFill>
                <a:srgbClr val="00B0F0"/>
              </a:solidFill>
            </a:endParaRPr>
          </a:p>
        </p:txBody>
      </p:sp>
      <p:sp>
        <p:nvSpPr>
          <p:cNvPr id="52" name="Text 13">
            <a:extLst>
              <a:ext uri="{FF2B5EF4-FFF2-40B4-BE49-F238E27FC236}">
                <a16:creationId xmlns:a16="http://schemas.microsoft.com/office/drawing/2014/main" id="{F9DC6383-DA49-A32F-56C7-8A31722989FD}"/>
              </a:ext>
            </a:extLst>
          </p:cNvPr>
          <p:cNvSpPr/>
          <p:nvPr/>
        </p:nvSpPr>
        <p:spPr>
          <a:xfrm>
            <a:off x="4949952" y="6321552"/>
            <a:ext cx="2255520" cy="414528"/>
          </a:xfrm>
          <a:prstGeom prst="rect">
            <a:avLst/>
          </a:prstGeom>
          <a:noFill/>
          <a:ln/>
        </p:spPr>
        <p:txBody>
          <a:bodyPr wrap="square" lIns="0" tIns="0" rIns="0" bIns="0" rtlCol="0" anchor="ctr"/>
          <a:lstStyle/>
          <a:p>
            <a:r>
              <a:rPr lang="en-US" sz="1133" dirty="0">
                <a:solidFill>
                  <a:schemeClr val="bg2">
                    <a:lumMod val="90000"/>
                  </a:schemeClr>
                </a:solidFill>
                <a:latin typeface="Calibri" pitchFamily="34" charset="0"/>
                <a:ea typeface="Calibri" pitchFamily="34" charset="-122"/>
                <a:cs typeface="Calibri" pitchFamily="34" charset="-120"/>
              </a:rPr>
              <a:t>3. Research Design</a:t>
            </a:r>
            <a:endParaRPr lang="en-US" sz="1133" dirty="0">
              <a:solidFill>
                <a:schemeClr val="bg2">
                  <a:lumMod val="90000"/>
                </a:schemeClr>
              </a:solidFill>
            </a:endParaRPr>
          </a:p>
        </p:txBody>
      </p:sp>
      <p:sp>
        <p:nvSpPr>
          <p:cNvPr id="53" name="Text 14">
            <a:extLst>
              <a:ext uri="{FF2B5EF4-FFF2-40B4-BE49-F238E27FC236}">
                <a16:creationId xmlns:a16="http://schemas.microsoft.com/office/drawing/2014/main" id="{D85A3629-6141-14F5-0A41-EC5F78F61B02}"/>
              </a:ext>
            </a:extLst>
          </p:cNvPr>
          <p:cNvSpPr/>
          <p:nvPr/>
        </p:nvSpPr>
        <p:spPr>
          <a:xfrm>
            <a:off x="7242048" y="6321552"/>
            <a:ext cx="2255520" cy="414528"/>
          </a:xfrm>
          <a:prstGeom prst="rect">
            <a:avLst/>
          </a:prstGeom>
          <a:noFill/>
          <a:ln/>
        </p:spPr>
        <p:txBody>
          <a:bodyPr wrap="square" lIns="0" tIns="0" rIns="0" bIns="0" rtlCol="0" anchor="ctr"/>
          <a:lstStyle/>
          <a:p>
            <a:r>
              <a:rPr lang="en-US" sz="1133" dirty="0">
                <a:solidFill>
                  <a:schemeClr val="bg2">
                    <a:lumMod val="90000"/>
                  </a:schemeClr>
                </a:solidFill>
                <a:latin typeface="Calibri" pitchFamily="34" charset="0"/>
                <a:ea typeface="Calibri" pitchFamily="34" charset="-122"/>
                <a:cs typeface="Calibri" pitchFamily="34" charset="-120"/>
              </a:rPr>
              <a:t>4. Challenges and limitations</a:t>
            </a:r>
            <a:endParaRPr lang="en-US" sz="1133" dirty="0">
              <a:solidFill>
                <a:schemeClr val="bg2">
                  <a:lumMod val="90000"/>
                </a:schemeClr>
              </a:solidFill>
            </a:endParaRPr>
          </a:p>
        </p:txBody>
      </p:sp>
      <p:sp>
        <p:nvSpPr>
          <p:cNvPr id="54" name="Text 15">
            <a:extLst>
              <a:ext uri="{FF2B5EF4-FFF2-40B4-BE49-F238E27FC236}">
                <a16:creationId xmlns:a16="http://schemas.microsoft.com/office/drawing/2014/main" id="{BB0DD912-C2F2-7C1D-DD74-8D08471247A2}"/>
              </a:ext>
            </a:extLst>
          </p:cNvPr>
          <p:cNvSpPr/>
          <p:nvPr/>
        </p:nvSpPr>
        <p:spPr>
          <a:xfrm>
            <a:off x="9534144" y="6321552"/>
            <a:ext cx="2255520" cy="414528"/>
          </a:xfrm>
          <a:prstGeom prst="rect">
            <a:avLst/>
          </a:prstGeom>
          <a:noFill/>
          <a:ln/>
        </p:spPr>
        <p:txBody>
          <a:bodyPr wrap="square" lIns="0" tIns="0" rIns="0" bIns="0" rtlCol="0" anchor="ctr"/>
          <a:lstStyle/>
          <a:p>
            <a:r>
              <a:rPr lang="en-US" sz="1133" dirty="0">
                <a:solidFill>
                  <a:schemeClr val="bg2">
                    <a:lumMod val="90000"/>
                  </a:schemeClr>
                </a:solidFill>
                <a:latin typeface="Calibri" pitchFamily="34" charset="0"/>
                <a:ea typeface="Calibri" pitchFamily="34" charset="-122"/>
                <a:cs typeface="Calibri" pitchFamily="34" charset="-120"/>
              </a:rPr>
              <a:t>5. Next Steps</a:t>
            </a:r>
            <a:endParaRPr lang="en-US" sz="1133" dirty="0">
              <a:solidFill>
                <a:schemeClr val="bg2">
                  <a:lumMod val="90000"/>
                </a:schemeClr>
              </a:solidFill>
            </a:endParaRPr>
          </a:p>
        </p:txBody>
      </p:sp>
      <p:pic>
        <p:nvPicPr>
          <p:cNvPr id="46" name="Imagen 45">
            <a:extLst>
              <a:ext uri="{FF2B5EF4-FFF2-40B4-BE49-F238E27FC236}">
                <a16:creationId xmlns:a16="http://schemas.microsoft.com/office/drawing/2014/main" id="{B9BE0733-65EF-ED3F-7012-9654953CDAF5}"/>
              </a:ext>
            </a:extLst>
          </p:cNvPr>
          <p:cNvPicPr>
            <a:picLocks noChangeAspect="1"/>
          </p:cNvPicPr>
          <p:nvPr/>
        </p:nvPicPr>
        <p:blipFill>
          <a:blip r:embed="rId3"/>
          <a:stretch>
            <a:fillRect/>
          </a:stretch>
        </p:blipFill>
        <p:spPr>
          <a:xfrm>
            <a:off x="492372" y="1239310"/>
            <a:ext cx="5559305" cy="4389983"/>
          </a:xfrm>
          <a:prstGeom prst="rect">
            <a:avLst/>
          </a:prstGeom>
        </p:spPr>
      </p:pic>
      <p:pic>
        <p:nvPicPr>
          <p:cNvPr id="48" name="Imagen 47">
            <a:extLst>
              <a:ext uri="{FF2B5EF4-FFF2-40B4-BE49-F238E27FC236}">
                <a16:creationId xmlns:a16="http://schemas.microsoft.com/office/drawing/2014/main" id="{6E6078F1-F2C6-9470-C62E-E2C88A46655F}"/>
              </a:ext>
            </a:extLst>
          </p:cNvPr>
          <p:cNvPicPr>
            <a:picLocks noChangeAspect="1"/>
          </p:cNvPicPr>
          <p:nvPr/>
        </p:nvPicPr>
        <p:blipFill>
          <a:blip r:embed="rId4"/>
          <a:stretch>
            <a:fillRect/>
          </a:stretch>
        </p:blipFill>
        <p:spPr>
          <a:xfrm>
            <a:off x="6249747" y="1155826"/>
            <a:ext cx="5586864" cy="4389981"/>
          </a:xfrm>
          <a:prstGeom prst="rect">
            <a:avLst/>
          </a:prstGeom>
        </p:spPr>
      </p:pic>
      <p:sp>
        <p:nvSpPr>
          <p:cNvPr id="57" name="CuadroTexto 56">
            <a:extLst>
              <a:ext uri="{FF2B5EF4-FFF2-40B4-BE49-F238E27FC236}">
                <a16:creationId xmlns:a16="http://schemas.microsoft.com/office/drawing/2014/main" id="{CF02C000-9897-AD28-E5B7-382ECE15F6D0}"/>
              </a:ext>
            </a:extLst>
          </p:cNvPr>
          <p:cNvSpPr txBox="1"/>
          <p:nvPr/>
        </p:nvSpPr>
        <p:spPr>
          <a:xfrm>
            <a:off x="6420192" y="5666802"/>
            <a:ext cx="5565483" cy="523028"/>
          </a:xfrm>
          <a:prstGeom prst="rect">
            <a:avLst/>
          </a:prstGeom>
          <a:noFill/>
        </p:spPr>
        <p:txBody>
          <a:bodyPr wrap="square">
            <a:spAutoFit/>
          </a:bodyPr>
          <a:lstStyle/>
          <a:p>
            <a:r>
              <a:rPr lang="en-US" sz="933" dirty="0"/>
              <a:t>Source: Author’s calculations based on conflict event data from the Colombian National Center of Historical Memory. The figure reports the average annual number of FARC-related events by category before (2011–2016) and after (2017–2024) the 2016 peace agreement.</a:t>
            </a:r>
          </a:p>
        </p:txBody>
      </p:sp>
      <p:sp>
        <p:nvSpPr>
          <p:cNvPr id="58" name="CuadroTexto 57">
            <a:extLst>
              <a:ext uri="{FF2B5EF4-FFF2-40B4-BE49-F238E27FC236}">
                <a16:creationId xmlns:a16="http://schemas.microsoft.com/office/drawing/2014/main" id="{7A0533AF-363E-901C-97EB-4B472E17B362}"/>
              </a:ext>
            </a:extLst>
          </p:cNvPr>
          <p:cNvSpPr txBox="1"/>
          <p:nvPr/>
        </p:nvSpPr>
        <p:spPr>
          <a:xfrm>
            <a:off x="492371" y="5694403"/>
            <a:ext cx="5585340" cy="523028"/>
          </a:xfrm>
          <a:prstGeom prst="rect">
            <a:avLst/>
          </a:prstGeom>
          <a:noFill/>
        </p:spPr>
        <p:txBody>
          <a:bodyPr wrap="square">
            <a:spAutoFit/>
          </a:bodyPr>
          <a:lstStyle/>
          <a:p>
            <a:r>
              <a:rPr lang="en-US" sz="933" dirty="0"/>
              <a:t>Source: Author’s calculations based on conflict event data from the Colombian National Center of Historical Memory. The figure reports the average annual number of violent events related to civil conflict by category before (2011–2016) and after (2017–2024) the 2016 peace agreement.</a:t>
            </a:r>
          </a:p>
        </p:txBody>
      </p:sp>
    </p:spTree>
    <p:extLst>
      <p:ext uri="{BB962C8B-B14F-4D97-AF65-F5344CB8AC3E}">
        <p14:creationId xmlns:p14="http://schemas.microsoft.com/office/powerpoint/2010/main" val="441105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49376" y="308813"/>
            <a:ext cx="10728960" cy="633984"/>
          </a:xfrm>
          <a:prstGeom prst="rect">
            <a:avLst/>
          </a:prstGeom>
          <a:noFill/>
          <a:ln/>
        </p:spPr>
        <p:txBody>
          <a:bodyPr wrap="square" lIns="0" tIns="0" rIns="0" bIns="0" rtlCol="0" anchor="ctr"/>
          <a:lstStyle/>
          <a:p>
            <a:r>
              <a:rPr lang="en-US" sz="3733" b="1" dirty="0">
                <a:solidFill>
                  <a:srgbClr val="002060"/>
                </a:solidFill>
                <a:latin typeface="Calibri" pitchFamily="34" charset="0"/>
                <a:ea typeface="Calibri" pitchFamily="34" charset="-122"/>
                <a:cs typeface="Calibri" pitchFamily="34" charset="-120"/>
              </a:rPr>
              <a:t>Research Design</a:t>
            </a:r>
            <a:endParaRPr lang="en-US" sz="3733" dirty="0">
              <a:solidFill>
                <a:srgbClr val="002060"/>
              </a:solidFill>
            </a:endParaRPr>
          </a:p>
        </p:txBody>
      </p:sp>
      <p:sp>
        <p:nvSpPr>
          <p:cNvPr id="3" name="Shape 1"/>
          <p:cNvSpPr/>
          <p:nvPr/>
        </p:nvSpPr>
        <p:spPr>
          <a:xfrm>
            <a:off x="670560" y="1024128"/>
            <a:ext cx="10850880" cy="0"/>
          </a:xfrm>
          <a:prstGeom prst="line">
            <a:avLst/>
          </a:prstGeom>
          <a:noFill/>
          <a:ln w="9525">
            <a:solidFill>
              <a:srgbClr val="DDDDDD"/>
            </a:solidFill>
            <a:prstDash val="solid"/>
          </a:ln>
        </p:spPr>
        <p:txBody>
          <a:bodyPr/>
          <a:lstStyle/>
          <a:p>
            <a:endParaRPr lang="es-CO" sz="2400"/>
          </a:p>
        </p:txBody>
      </p:sp>
      <p:sp>
        <p:nvSpPr>
          <p:cNvPr id="4" name="Text 2"/>
          <p:cNvSpPr/>
          <p:nvPr/>
        </p:nvSpPr>
        <p:spPr>
          <a:xfrm>
            <a:off x="849376" y="1097280"/>
            <a:ext cx="5120640" cy="268224"/>
          </a:xfrm>
          <a:prstGeom prst="rect">
            <a:avLst/>
          </a:prstGeom>
          <a:noFill/>
          <a:ln/>
        </p:spPr>
        <p:txBody>
          <a:bodyPr wrap="square" lIns="0" tIns="0" rIns="0" bIns="0" rtlCol="0" anchor="ctr"/>
          <a:lstStyle/>
          <a:p>
            <a:r>
              <a:rPr lang="en-US" sz="1200" b="1" kern="0" spc="133" dirty="0">
                <a:solidFill>
                  <a:srgbClr val="888888"/>
                </a:solidFill>
                <a:latin typeface="Calibri" pitchFamily="34" charset="0"/>
                <a:ea typeface="Calibri" pitchFamily="34" charset="-122"/>
                <a:cs typeface="Calibri" pitchFamily="34" charset="-120"/>
              </a:rPr>
              <a:t>IDENTIFICATION STRATEGY</a:t>
            </a:r>
            <a:endParaRPr lang="en-US" sz="1200" dirty="0"/>
          </a:p>
        </p:txBody>
      </p:sp>
      <p:sp>
        <p:nvSpPr>
          <p:cNvPr id="5" name="Text 3"/>
          <p:cNvSpPr/>
          <p:nvPr/>
        </p:nvSpPr>
        <p:spPr>
          <a:xfrm>
            <a:off x="849376" y="1412240"/>
            <a:ext cx="5120640" cy="390144"/>
          </a:xfrm>
          <a:prstGeom prst="rect">
            <a:avLst/>
          </a:prstGeom>
          <a:noFill/>
          <a:ln/>
        </p:spPr>
        <p:txBody>
          <a:bodyPr wrap="square" lIns="0" tIns="0" rIns="0" bIns="0" rtlCol="0" anchor="ctr"/>
          <a:lstStyle/>
          <a:p>
            <a:r>
              <a:rPr lang="en-US" sz="1867" b="1" dirty="0">
                <a:solidFill>
                  <a:srgbClr val="1A1A1A"/>
                </a:solidFill>
                <a:latin typeface="Calibri" pitchFamily="34" charset="0"/>
                <a:ea typeface="Calibri" pitchFamily="34" charset="-122"/>
                <a:cs typeface="Calibri" pitchFamily="34" charset="-120"/>
              </a:rPr>
              <a:t>Difference-in-Differences (DiD)</a:t>
            </a:r>
            <a:endParaRPr lang="en-US" sz="1867" dirty="0"/>
          </a:p>
        </p:txBody>
      </p:sp>
      <p:sp>
        <p:nvSpPr>
          <p:cNvPr id="6" name="Text 4"/>
          <p:cNvSpPr/>
          <p:nvPr/>
        </p:nvSpPr>
        <p:spPr>
          <a:xfrm>
            <a:off x="741683" y="1971564"/>
            <a:ext cx="5228333" cy="2188315"/>
          </a:xfrm>
          <a:prstGeom prst="rect">
            <a:avLst/>
          </a:prstGeom>
          <a:noFill/>
          <a:ln/>
        </p:spPr>
        <p:txBody>
          <a:bodyPr wrap="square" lIns="0" tIns="0" rIns="0" bIns="0" rtlCol="0" anchor="t"/>
          <a:lstStyle/>
          <a:p>
            <a:pPr marL="228594" indent="-228594">
              <a:buFont typeface="Arial" panose="020B0604020202020204" pitchFamily="34" charset="0"/>
              <a:buChar char="•"/>
            </a:pPr>
            <a:r>
              <a:rPr lang="en-US" sz="1333" dirty="0">
                <a:solidFill>
                  <a:srgbClr val="333333"/>
                </a:solidFill>
                <a:latin typeface="Calibri" pitchFamily="34" charset="0"/>
                <a:ea typeface="Calibri" pitchFamily="34" charset="-122"/>
                <a:cs typeface="Calibri" pitchFamily="34" charset="-120"/>
              </a:rPr>
              <a:t>The </a:t>
            </a:r>
            <a:r>
              <a:rPr lang="en-US" sz="1333" dirty="0" err="1">
                <a:solidFill>
                  <a:srgbClr val="333333"/>
                </a:solidFill>
                <a:latin typeface="Calibri" pitchFamily="34" charset="0"/>
                <a:ea typeface="Calibri" pitchFamily="34" charset="-122"/>
                <a:cs typeface="Calibri" pitchFamily="34" charset="-120"/>
              </a:rPr>
              <a:t>DiD</a:t>
            </a:r>
            <a:r>
              <a:rPr lang="en-US" sz="1333" dirty="0">
                <a:solidFill>
                  <a:srgbClr val="333333"/>
                </a:solidFill>
                <a:latin typeface="Calibri" pitchFamily="34" charset="0"/>
                <a:ea typeface="Calibri" pitchFamily="34" charset="-122"/>
                <a:cs typeface="Calibri" pitchFamily="34" charset="-120"/>
              </a:rPr>
              <a:t> compares changes in the rate of transition to higher education between treated and control municipalities, before and after the 2016 peace agreement.</a:t>
            </a:r>
          </a:p>
          <a:p>
            <a:pPr marL="228594" indent="-228594">
              <a:buFont typeface="Arial" panose="020B0604020202020204" pitchFamily="34" charset="0"/>
              <a:buChar char="•"/>
            </a:pPr>
            <a:endParaRPr lang="en-US" sz="1333" dirty="0">
              <a:solidFill>
                <a:srgbClr val="333333"/>
              </a:solidFill>
              <a:latin typeface="Calibri" pitchFamily="34" charset="0"/>
              <a:ea typeface="Calibri" pitchFamily="34" charset="-122"/>
              <a:cs typeface="Calibri" pitchFamily="34" charset="-120"/>
            </a:endParaRPr>
          </a:p>
          <a:p>
            <a:pPr marL="228594" indent="-228594">
              <a:buFont typeface="Arial" panose="020B0604020202020204" pitchFamily="34" charset="0"/>
              <a:buChar char="•"/>
            </a:pPr>
            <a:r>
              <a:rPr lang="en-US" sz="1333" dirty="0">
                <a:solidFill>
                  <a:srgbClr val="333333"/>
                </a:solidFill>
                <a:latin typeface="Calibri" pitchFamily="34" charset="0"/>
                <a:ea typeface="Calibri" pitchFamily="34" charset="-122"/>
                <a:cs typeface="Calibri" pitchFamily="34" charset="-120"/>
              </a:rPr>
              <a:t>The peace agreement provides a clear before-and-after threshold and well-defined treatment groups based on pre-existing FARC presence. </a:t>
            </a:r>
          </a:p>
          <a:p>
            <a:pPr marL="228594" indent="-228594">
              <a:buFont typeface="Arial" panose="020B0604020202020204" pitchFamily="34" charset="0"/>
              <a:buChar char="•"/>
            </a:pPr>
            <a:endParaRPr lang="en-US" sz="1333" dirty="0">
              <a:solidFill>
                <a:srgbClr val="333333"/>
              </a:solidFill>
              <a:latin typeface="Calibri" pitchFamily="34" charset="0"/>
              <a:ea typeface="Calibri" pitchFamily="34" charset="-122"/>
              <a:cs typeface="Calibri" pitchFamily="34" charset="-120"/>
            </a:endParaRPr>
          </a:p>
          <a:p>
            <a:pPr marL="228594" indent="-228594">
              <a:buFont typeface="Arial" panose="020B0604020202020204" pitchFamily="34" charset="0"/>
              <a:buChar char="•"/>
            </a:pPr>
            <a:r>
              <a:rPr lang="en-US" sz="1333" dirty="0" err="1">
                <a:solidFill>
                  <a:srgbClr val="333333"/>
                </a:solidFill>
                <a:latin typeface="Calibri" pitchFamily="34" charset="0"/>
                <a:ea typeface="Calibri" pitchFamily="34" charset="-122"/>
                <a:cs typeface="Calibri" pitchFamily="34" charset="-120"/>
              </a:rPr>
              <a:t>DiD</a:t>
            </a:r>
            <a:r>
              <a:rPr lang="en-US" sz="1333" dirty="0">
                <a:solidFill>
                  <a:srgbClr val="333333"/>
                </a:solidFill>
                <a:latin typeface="Calibri" pitchFamily="34" charset="0"/>
                <a:ea typeface="Calibri" pitchFamily="34" charset="-122"/>
                <a:cs typeface="Calibri" pitchFamily="34" charset="-120"/>
              </a:rPr>
              <a:t> differences out municipality-level time-invariant factors (via municipality FE) and common temporal shocks (via year FE).</a:t>
            </a:r>
            <a:endParaRPr lang="en-US" sz="1333" dirty="0"/>
          </a:p>
        </p:txBody>
      </p:sp>
      <p:sp>
        <p:nvSpPr>
          <p:cNvPr id="7" name="Shape 5"/>
          <p:cNvSpPr/>
          <p:nvPr/>
        </p:nvSpPr>
        <p:spPr>
          <a:xfrm>
            <a:off x="822960" y="3974065"/>
            <a:ext cx="5120640" cy="0"/>
          </a:xfrm>
          <a:prstGeom prst="line">
            <a:avLst/>
          </a:prstGeom>
          <a:noFill/>
          <a:ln w="9525">
            <a:solidFill>
              <a:srgbClr val="DDDDDD"/>
            </a:solidFill>
            <a:prstDash val="solid"/>
          </a:ln>
        </p:spPr>
        <p:txBody>
          <a:bodyPr/>
          <a:lstStyle/>
          <a:p>
            <a:endParaRPr lang="en-GB" sz="2400" dirty="0"/>
          </a:p>
          <a:p>
            <a:endParaRPr lang="es-CO" sz="2400" dirty="0"/>
          </a:p>
        </p:txBody>
      </p:sp>
      <p:sp>
        <p:nvSpPr>
          <p:cNvPr id="8" name="Text 6"/>
          <p:cNvSpPr/>
          <p:nvPr/>
        </p:nvSpPr>
        <p:spPr>
          <a:xfrm>
            <a:off x="822960" y="4054351"/>
            <a:ext cx="5120640" cy="365760"/>
          </a:xfrm>
          <a:prstGeom prst="rect">
            <a:avLst/>
          </a:prstGeom>
          <a:noFill/>
          <a:ln/>
        </p:spPr>
        <p:txBody>
          <a:bodyPr wrap="square" lIns="0" tIns="0" rIns="0" bIns="0" rtlCol="0" anchor="ctr"/>
          <a:lstStyle/>
          <a:p>
            <a:r>
              <a:rPr lang="en-US" sz="1733" b="1" dirty="0">
                <a:solidFill>
                  <a:srgbClr val="1A1A1A"/>
                </a:solidFill>
                <a:latin typeface="Calibri" pitchFamily="34" charset="0"/>
                <a:ea typeface="Calibri" pitchFamily="34" charset="-122"/>
                <a:cs typeface="Calibri" pitchFamily="34" charset="-120"/>
              </a:rPr>
              <a:t>Key assumption</a:t>
            </a:r>
            <a:endParaRPr lang="en-US" sz="1733" dirty="0"/>
          </a:p>
        </p:txBody>
      </p:sp>
      <p:sp>
        <p:nvSpPr>
          <p:cNvPr id="9" name="Text 7"/>
          <p:cNvSpPr/>
          <p:nvPr/>
        </p:nvSpPr>
        <p:spPr>
          <a:xfrm>
            <a:off x="849376" y="4621143"/>
            <a:ext cx="5120640" cy="877824"/>
          </a:xfrm>
          <a:prstGeom prst="rect">
            <a:avLst/>
          </a:prstGeom>
          <a:noFill/>
          <a:ln/>
        </p:spPr>
        <p:txBody>
          <a:bodyPr wrap="square" lIns="0" tIns="0" rIns="0" bIns="0" rtlCol="0" anchor="t"/>
          <a:lstStyle/>
          <a:p>
            <a:r>
              <a:rPr lang="en-US" sz="1333" b="1" dirty="0">
                <a:solidFill>
                  <a:srgbClr val="333333"/>
                </a:solidFill>
                <a:latin typeface="Calibri" pitchFamily="34" charset="0"/>
                <a:ea typeface="Calibri" pitchFamily="34" charset="-122"/>
                <a:cs typeface="Calibri" pitchFamily="34" charset="-120"/>
              </a:rPr>
              <a:t>Parallel trends: </a:t>
            </a:r>
            <a:r>
              <a:rPr lang="en-US" sz="1333" dirty="0">
                <a:solidFill>
                  <a:srgbClr val="333333"/>
                </a:solidFill>
                <a:latin typeface="Calibri" pitchFamily="34" charset="0"/>
                <a:ea typeface="Calibri" pitchFamily="34" charset="-122"/>
                <a:cs typeface="Calibri" pitchFamily="34" charset="-120"/>
              </a:rPr>
              <a:t>absent the agreement, transition rates in treated and control municipalities would have followed similar trajectories. </a:t>
            </a:r>
          </a:p>
          <a:p>
            <a:endParaRPr lang="en-US" sz="1333" dirty="0">
              <a:solidFill>
                <a:srgbClr val="333333"/>
              </a:solidFill>
              <a:latin typeface="Calibri" pitchFamily="34" charset="0"/>
              <a:ea typeface="Calibri" pitchFamily="34" charset="-122"/>
              <a:cs typeface="Calibri" pitchFamily="34" charset="-120"/>
            </a:endParaRPr>
          </a:p>
          <a:p>
            <a:r>
              <a:rPr lang="en-US" sz="1333" b="1" dirty="0">
                <a:solidFill>
                  <a:srgbClr val="333333"/>
                </a:solidFill>
                <a:latin typeface="Calibri" pitchFamily="34" charset="0"/>
                <a:ea typeface="Calibri" pitchFamily="34" charset="-122"/>
                <a:cs typeface="Calibri" pitchFamily="34" charset="-120"/>
              </a:rPr>
              <a:t>No anticipation: </a:t>
            </a:r>
            <a:r>
              <a:rPr lang="en-US" sz="1333" dirty="0">
                <a:solidFill>
                  <a:srgbClr val="333333"/>
                </a:solidFill>
                <a:latin typeface="Calibri" pitchFamily="34" charset="0"/>
                <a:ea typeface="Calibri" pitchFamily="34" charset="-122"/>
                <a:cs typeface="Calibri" pitchFamily="34" charset="-120"/>
              </a:rPr>
              <a:t>treated municipalities did not adjust </a:t>
            </a:r>
            <a:r>
              <a:rPr lang="en-US" sz="1333" dirty="0" err="1">
                <a:solidFill>
                  <a:srgbClr val="333333"/>
                </a:solidFill>
                <a:latin typeface="Calibri" pitchFamily="34" charset="0"/>
                <a:ea typeface="Calibri" pitchFamily="34" charset="-122"/>
                <a:cs typeface="Calibri" pitchFamily="34" charset="-120"/>
              </a:rPr>
              <a:t>behaviour</a:t>
            </a:r>
            <a:r>
              <a:rPr lang="en-US" sz="1333" dirty="0">
                <a:solidFill>
                  <a:srgbClr val="333333"/>
                </a:solidFill>
                <a:latin typeface="Calibri" pitchFamily="34" charset="0"/>
                <a:ea typeface="Calibri" pitchFamily="34" charset="-122"/>
                <a:cs typeface="Calibri" pitchFamily="34" charset="-120"/>
              </a:rPr>
              <a:t> before the agreement took effect.</a:t>
            </a:r>
          </a:p>
        </p:txBody>
      </p:sp>
      <p:sp>
        <p:nvSpPr>
          <p:cNvPr id="13" name="Shape 11"/>
          <p:cNvSpPr/>
          <p:nvPr/>
        </p:nvSpPr>
        <p:spPr>
          <a:xfrm>
            <a:off x="6096000" y="1031627"/>
            <a:ext cx="0" cy="5242560"/>
          </a:xfrm>
          <a:prstGeom prst="line">
            <a:avLst/>
          </a:prstGeom>
          <a:noFill/>
          <a:ln w="9525">
            <a:solidFill>
              <a:srgbClr val="DDDDDD"/>
            </a:solidFill>
            <a:prstDash val="solid"/>
          </a:ln>
        </p:spPr>
        <p:txBody>
          <a:bodyPr/>
          <a:lstStyle/>
          <a:p>
            <a:endParaRPr lang="es-CO" sz="2400"/>
          </a:p>
        </p:txBody>
      </p:sp>
      <p:sp>
        <p:nvSpPr>
          <p:cNvPr id="14" name="Text 12"/>
          <p:cNvSpPr/>
          <p:nvPr/>
        </p:nvSpPr>
        <p:spPr>
          <a:xfrm>
            <a:off x="6400800" y="1082899"/>
            <a:ext cx="5364480" cy="268224"/>
          </a:xfrm>
          <a:prstGeom prst="rect">
            <a:avLst/>
          </a:prstGeom>
          <a:noFill/>
          <a:ln/>
        </p:spPr>
        <p:txBody>
          <a:bodyPr wrap="square" lIns="0" tIns="0" rIns="0" bIns="0" rtlCol="0" anchor="ctr"/>
          <a:lstStyle/>
          <a:p>
            <a:r>
              <a:rPr lang="en-US" sz="1200" b="1" kern="0" spc="133" dirty="0">
                <a:solidFill>
                  <a:srgbClr val="888888"/>
                </a:solidFill>
                <a:latin typeface="Calibri" pitchFamily="34" charset="0"/>
                <a:ea typeface="Calibri" pitchFamily="34" charset="-122"/>
                <a:cs typeface="Calibri" pitchFamily="34" charset="-120"/>
              </a:rPr>
              <a:t>DATA</a:t>
            </a:r>
            <a:endParaRPr lang="en-US" sz="1200" dirty="0"/>
          </a:p>
        </p:txBody>
      </p:sp>
      <p:sp>
        <p:nvSpPr>
          <p:cNvPr id="15" name="Text 13"/>
          <p:cNvSpPr/>
          <p:nvPr/>
        </p:nvSpPr>
        <p:spPr>
          <a:xfrm>
            <a:off x="6400800" y="1458504"/>
            <a:ext cx="5303520" cy="341376"/>
          </a:xfrm>
          <a:prstGeom prst="rect">
            <a:avLst/>
          </a:prstGeom>
          <a:noFill/>
          <a:ln/>
        </p:spPr>
        <p:txBody>
          <a:bodyPr wrap="square" lIns="0" tIns="0" rIns="0" bIns="0" rtlCol="0" anchor="ctr"/>
          <a:lstStyle/>
          <a:p>
            <a:r>
              <a:rPr lang="en-US" sz="1733" b="1" dirty="0">
                <a:solidFill>
                  <a:srgbClr val="1A1A1A"/>
                </a:solidFill>
                <a:latin typeface="Calibri" pitchFamily="34" charset="0"/>
                <a:ea typeface="Calibri" pitchFamily="34" charset="-122"/>
                <a:cs typeface="Calibri" pitchFamily="34" charset="-120"/>
              </a:rPr>
              <a:t>Outcome</a:t>
            </a:r>
            <a:endParaRPr lang="en-US" sz="1733" dirty="0"/>
          </a:p>
        </p:txBody>
      </p:sp>
      <p:sp>
        <p:nvSpPr>
          <p:cNvPr id="16" name="Text 14"/>
          <p:cNvSpPr/>
          <p:nvPr/>
        </p:nvSpPr>
        <p:spPr>
          <a:xfrm>
            <a:off x="6400800" y="1734856"/>
            <a:ext cx="5303520" cy="268224"/>
          </a:xfrm>
          <a:prstGeom prst="rect">
            <a:avLst/>
          </a:prstGeom>
          <a:noFill/>
          <a:ln/>
        </p:spPr>
        <p:txBody>
          <a:bodyPr wrap="square" lIns="0" tIns="0" rIns="0" bIns="0" rtlCol="0" anchor="ctr"/>
          <a:lstStyle/>
          <a:p>
            <a:r>
              <a:rPr lang="en-US" sz="1200" b="1" dirty="0">
                <a:solidFill>
                  <a:srgbClr val="888888"/>
                </a:solidFill>
                <a:latin typeface="Calibri" pitchFamily="34" charset="0"/>
                <a:ea typeface="Calibri" pitchFamily="34" charset="-122"/>
                <a:cs typeface="Calibri" pitchFamily="34" charset="-120"/>
              </a:rPr>
              <a:t>ICFES – NATIONAL MINISTRY OF EDUCATION  2011-2024</a:t>
            </a:r>
            <a:endParaRPr lang="en-US" sz="1200" dirty="0"/>
          </a:p>
        </p:txBody>
      </p:sp>
      <p:sp>
        <p:nvSpPr>
          <p:cNvPr id="17" name="Text 15"/>
          <p:cNvSpPr/>
          <p:nvPr/>
        </p:nvSpPr>
        <p:spPr>
          <a:xfrm>
            <a:off x="6400800" y="2003081"/>
            <a:ext cx="5303521" cy="630409"/>
          </a:xfrm>
          <a:prstGeom prst="rect">
            <a:avLst/>
          </a:prstGeom>
          <a:noFill/>
          <a:ln/>
        </p:spPr>
        <p:txBody>
          <a:bodyPr wrap="square" lIns="0" tIns="0" rIns="0" bIns="0" rtlCol="0" anchor="t"/>
          <a:lstStyle/>
          <a:p>
            <a:r>
              <a:rPr lang="en-US" sz="1333" dirty="0">
                <a:latin typeface="Calibri" pitchFamily="34" charset="0"/>
                <a:ea typeface="Calibri" pitchFamily="34" charset="-122"/>
                <a:cs typeface="Calibri" pitchFamily="34" charset="-120"/>
              </a:rPr>
              <a:t>Transition rate to higher education: proportion of secondary graduates in each municipality who enroll in a HE (technical, technological, or university) the following year. </a:t>
            </a:r>
          </a:p>
          <a:p>
            <a:r>
              <a:rPr lang="en-US" sz="1333" dirty="0">
                <a:latin typeface="Calibri" pitchFamily="34" charset="0"/>
                <a:ea typeface="Calibri" pitchFamily="34" charset="-122"/>
                <a:cs typeface="Calibri" pitchFamily="34" charset="-120"/>
              </a:rPr>
              <a:t>Annual, municipal level, based on individual data.</a:t>
            </a:r>
            <a:endParaRPr lang="en-US" sz="1333" dirty="0"/>
          </a:p>
        </p:txBody>
      </p:sp>
      <p:sp>
        <p:nvSpPr>
          <p:cNvPr id="18" name="Shape 16"/>
          <p:cNvSpPr/>
          <p:nvPr/>
        </p:nvSpPr>
        <p:spPr>
          <a:xfrm>
            <a:off x="6400800" y="2940883"/>
            <a:ext cx="5303520" cy="0"/>
          </a:xfrm>
          <a:prstGeom prst="line">
            <a:avLst/>
          </a:prstGeom>
          <a:noFill/>
          <a:ln w="9525">
            <a:solidFill>
              <a:srgbClr val="DDDDDD"/>
            </a:solidFill>
            <a:prstDash val="solid"/>
          </a:ln>
        </p:spPr>
        <p:txBody>
          <a:bodyPr/>
          <a:lstStyle/>
          <a:p>
            <a:endParaRPr lang="es-CO" sz="2400"/>
          </a:p>
        </p:txBody>
      </p:sp>
      <p:sp>
        <p:nvSpPr>
          <p:cNvPr id="19" name="Text 17"/>
          <p:cNvSpPr/>
          <p:nvPr/>
        </p:nvSpPr>
        <p:spPr>
          <a:xfrm>
            <a:off x="6431280" y="2994247"/>
            <a:ext cx="5303520" cy="341376"/>
          </a:xfrm>
          <a:prstGeom prst="rect">
            <a:avLst/>
          </a:prstGeom>
          <a:noFill/>
          <a:ln/>
        </p:spPr>
        <p:txBody>
          <a:bodyPr wrap="square" lIns="0" tIns="0" rIns="0" bIns="0" rtlCol="0" anchor="ctr"/>
          <a:lstStyle/>
          <a:p>
            <a:r>
              <a:rPr lang="en-US" sz="1733" b="1" dirty="0">
                <a:solidFill>
                  <a:srgbClr val="1A1A1A"/>
                </a:solidFill>
                <a:latin typeface="Calibri" pitchFamily="34" charset="0"/>
                <a:ea typeface="Calibri" pitchFamily="34" charset="-122"/>
                <a:cs typeface="Calibri" pitchFamily="34" charset="-120"/>
              </a:rPr>
              <a:t>Treatment </a:t>
            </a:r>
            <a:endParaRPr lang="en-US" sz="1733" dirty="0"/>
          </a:p>
        </p:txBody>
      </p:sp>
      <p:sp>
        <p:nvSpPr>
          <p:cNvPr id="20" name="Text 18"/>
          <p:cNvSpPr/>
          <p:nvPr/>
        </p:nvSpPr>
        <p:spPr>
          <a:xfrm>
            <a:off x="6400800" y="3352949"/>
            <a:ext cx="5303520" cy="268224"/>
          </a:xfrm>
          <a:prstGeom prst="rect">
            <a:avLst/>
          </a:prstGeom>
          <a:noFill/>
          <a:ln/>
        </p:spPr>
        <p:txBody>
          <a:bodyPr wrap="square" lIns="0" tIns="0" rIns="0" bIns="0" rtlCol="0" anchor="ctr"/>
          <a:lstStyle/>
          <a:p>
            <a:r>
              <a:rPr lang="en-US" sz="1200" b="1" dirty="0">
                <a:solidFill>
                  <a:srgbClr val="888888"/>
                </a:solidFill>
                <a:latin typeface="Calibri" pitchFamily="34" charset="0"/>
                <a:ea typeface="Calibri" pitchFamily="34" charset="-122"/>
                <a:cs typeface="Calibri" pitchFamily="34" charset="-120"/>
              </a:rPr>
              <a:t>NATIONAL CENTER OF HISTORICAL MEMORY – CNMH 2011 - 2024</a:t>
            </a:r>
            <a:endParaRPr lang="en-US" sz="1200" dirty="0"/>
          </a:p>
        </p:txBody>
      </p:sp>
      <p:sp>
        <p:nvSpPr>
          <p:cNvPr id="21" name="Text 19"/>
          <p:cNvSpPr/>
          <p:nvPr/>
        </p:nvSpPr>
        <p:spPr>
          <a:xfrm>
            <a:off x="6400800" y="3742552"/>
            <a:ext cx="5303520" cy="980469"/>
          </a:xfrm>
          <a:prstGeom prst="rect">
            <a:avLst/>
          </a:prstGeom>
          <a:noFill/>
          <a:ln/>
        </p:spPr>
        <p:txBody>
          <a:bodyPr wrap="square" lIns="0" tIns="0" rIns="0" bIns="0" rtlCol="0" anchor="t"/>
          <a:lstStyle/>
          <a:p>
            <a:r>
              <a:rPr lang="en-US" sz="1333" dirty="0">
                <a:latin typeface="Calibri" pitchFamily="34" charset="0"/>
                <a:ea typeface="Calibri" pitchFamily="34" charset="-122"/>
                <a:cs typeface="Calibri" pitchFamily="34" charset="-120"/>
              </a:rPr>
              <a:t>FARC-related violent events per municipality. Treatment dummy = 1 for municipalities where FARC events per capita are in the top three quartiles during 2011–2016, followed </a:t>
            </a:r>
            <a:r>
              <a:rPr lang="en-US" sz="1333" dirty="0">
                <a:solidFill>
                  <a:srgbClr val="333333"/>
                </a:solidFill>
                <a:latin typeface="Calibri" pitchFamily="34" charset="0"/>
                <a:ea typeface="Calibri" pitchFamily="34" charset="-122"/>
                <a:cs typeface="Calibri" pitchFamily="34" charset="-120"/>
              </a:rPr>
              <a:t>Prem et al. 2023.</a:t>
            </a:r>
            <a:endParaRPr lang="en-US" sz="1333" dirty="0">
              <a:latin typeface="Calibri" pitchFamily="34" charset="0"/>
              <a:ea typeface="Calibri" pitchFamily="34" charset="-122"/>
              <a:cs typeface="Calibri" pitchFamily="34" charset="-120"/>
            </a:endParaRPr>
          </a:p>
        </p:txBody>
      </p:sp>
      <p:sp>
        <p:nvSpPr>
          <p:cNvPr id="22" name="Shape 20"/>
          <p:cNvSpPr/>
          <p:nvPr/>
        </p:nvSpPr>
        <p:spPr>
          <a:xfrm>
            <a:off x="6396111" y="4607136"/>
            <a:ext cx="5303520" cy="0"/>
          </a:xfrm>
          <a:prstGeom prst="line">
            <a:avLst/>
          </a:prstGeom>
          <a:noFill/>
          <a:ln w="9525">
            <a:solidFill>
              <a:srgbClr val="DDDDDD"/>
            </a:solidFill>
            <a:prstDash val="solid"/>
          </a:ln>
        </p:spPr>
        <p:txBody>
          <a:bodyPr/>
          <a:lstStyle/>
          <a:p>
            <a:endParaRPr lang="es-CO" sz="2400"/>
          </a:p>
        </p:txBody>
      </p:sp>
      <p:sp>
        <p:nvSpPr>
          <p:cNvPr id="23" name="Text 21"/>
          <p:cNvSpPr/>
          <p:nvPr/>
        </p:nvSpPr>
        <p:spPr>
          <a:xfrm>
            <a:off x="6396111" y="4718057"/>
            <a:ext cx="5303520" cy="341376"/>
          </a:xfrm>
          <a:prstGeom prst="rect">
            <a:avLst/>
          </a:prstGeom>
          <a:noFill/>
          <a:ln/>
        </p:spPr>
        <p:txBody>
          <a:bodyPr wrap="square" lIns="0" tIns="0" rIns="0" bIns="0" rtlCol="0" anchor="ctr"/>
          <a:lstStyle/>
          <a:p>
            <a:r>
              <a:rPr lang="en-US" sz="1733" b="1" dirty="0">
                <a:solidFill>
                  <a:srgbClr val="1A1A1A"/>
                </a:solidFill>
                <a:latin typeface="Calibri" pitchFamily="34" charset="0"/>
                <a:ea typeface="Calibri" pitchFamily="34" charset="-122"/>
                <a:cs typeface="Calibri" pitchFamily="34" charset="-120"/>
              </a:rPr>
              <a:t>Controls</a:t>
            </a:r>
            <a:endParaRPr lang="en-US" sz="1733" dirty="0"/>
          </a:p>
        </p:txBody>
      </p:sp>
      <p:sp>
        <p:nvSpPr>
          <p:cNvPr id="25" name="Text 23"/>
          <p:cNvSpPr/>
          <p:nvPr/>
        </p:nvSpPr>
        <p:spPr>
          <a:xfrm>
            <a:off x="6396111" y="5273220"/>
            <a:ext cx="5303520" cy="707136"/>
          </a:xfrm>
          <a:prstGeom prst="rect">
            <a:avLst/>
          </a:prstGeom>
          <a:noFill/>
          <a:ln/>
        </p:spPr>
        <p:txBody>
          <a:bodyPr wrap="square" lIns="0" tIns="0" rIns="0" bIns="0" rtlCol="0" anchor="t"/>
          <a:lstStyle/>
          <a:p>
            <a:r>
              <a:rPr lang="en-US" sz="1333" dirty="0">
                <a:solidFill>
                  <a:srgbClr val="333333"/>
                </a:solidFill>
                <a:latin typeface="Calibri" pitchFamily="34" charset="0"/>
                <a:ea typeface="Calibri" pitchFamily="34" charset="-122"/>
                <a:cs typeface="Calibri" pitchFamily="34" charset="-120"/>
              </a:rPr>
              <a:t>Tax income, national transfers, public expenditure, and hectares under coca cultivation.</a:t>
            </a:r>
          </a:p>
        </p:txBody>
      </p:sp>
      <p:sp>
        <p:nvSpPr>
          <p:cNvPr id="26" name="Text 24"/>
          <p:cNvSpPr/>
          <p:nvPr/>
        </p:nvSpPr>
        <p:spPr>
          <a:xfrm>
            <a:off x="2733823" y="462827"/>
            <a:ext cx="10850880" cy="292608"/>
          </a:xfrm>
          <a:prstGeom prst="rect">
            <a:avLst/>
          </a:prstGeom>
          <a:noFill/>
          <a:ln/>
        </p:spPr>
        <p:txBody>
          <a:bodyPr wrap="square" lIns="0" tIns="0" rIns="0" bIns="0" rtlCol="0" anchor="ctr"/>
          <a:lstStyle/>
          <a:p>
            <a:pPr algn="ctr"/>
            <a:endParaRPr lang="en-US" sz="1200" dirty="0"/>
          </a:p>
        </p:txBody>
      </p:sp>
      <p:sp>
        <p:nvSpPr>
          <p:cNvPr id="29" name="Shape 10">
            <a:extLst>
              <a:ext uri="{FF2B5EF4-FFF2-40B4-BE49-F238E27FC236}">
                <a16:creationId xmlns:a16="http://schemas.microsoft.com/office/drawing/2014/main" id="{FC6B0D40-63A9-7A6B-7D6A-DA24F43077A3}"/>
              </a:ext>
            </a:extLst>
          </p:cNvPr>
          <p:cNvSpPr/>
          <p:nvPr/>
        </p:nvSpPr>
        <p:spPr>
          <a:xfrm>
            <a:off x="670560" y="6248400"/>
            <a:ext cx="10850880" cy="0"/>
          </a:xfrm>
          <a:prstGeom prst="line">
            <a:avLst/>
          </a:prstGeom>
          <a:noFill/>
          <a:ln w="9525">
            <a:solidFill>
              <a:srgbClr val="DDDDDD"/>
            </a:solidFill>
            <a:prstDash val="solid"/>
          </a:ln>
        </p:spPr>
        <p:txBody>
          <a:bodyPr/>
          <a:lstStyle/>
          <a:p>
            <a:endParaRPr lang="es-CO" sz="2400"/>
          </a:p>
        </p:txBody>
      </p:sp>
      <p:sp>
        <p:nvSpPr>
          <p:cNvPr id="30" name="Text 11">
            <a:extLst>
              <a:ext uri="{FF2B5EF4-FFF2-40B4-BE49-F238E27FC236}">
                <a16:creationId xmlns:a16="http://schemas.microsoft.com/office/drawing/2014/main" id="{C9CC0FD5-EDF7-3389-139E-9F22EB6A8B5A}"/>
              </a:ext>
            </a:extLst>
          </p:cNvPr>
          <p:cNvSpPr/>
          <p:nvPr/>
        </p:nvSpPr>
        <p:spPr>
          <a:xfrm>
            <a:off x="365760" y="6321552"/>
            <a:ext cx="2255520" cy="414528"/>
          </a:xfrm>
          <a:prstGeom prst="rect">
            <a:avLst/>
          </a:prstGeom>
          <a:noFill/>
          <a:ln/>
        </p:spPr>
        <p:txBody>
          <a:bodyPr wrap="square" lIns="0" tIns="0" rIns="0" bIns="0" rtlCol="0" anchor="ctr"/>
          <a:lstStyle/>
          <a:p>
            <a:r>
              <a:rPr lang="en-US" sz="1133" dirty="0">
                <a:solidFill>
                  <a:schemeClr val="bg2">
                    <a:lumMod val="90000"/>
                  </a:schemeClr>
                </a:solidFill>
                <a:latin typeface="Calibri" pitchFamily="34" charset="0"/>
                <a:ea typeface="Calibri" pitchFamily="34" charset="-122"/>
                <a:cs typeface="Calibri" pitchFamily="34" charset="-120"/>
              </a:rPr>
              <a:t>1. Motivation</a:t>
            </a:r>
          </a:p>
        </p:txBody>
      </p:sp>
      <p:sp>
        <p:nvSpPr>
          <p:cNvPr id="31" name="Text 12">
            <a:extLst>
              <a:ext uri="{FF2B5EF4-FFF2-40B4-BE49-F238E27FC236}">
                <a16:creationId xmlns:a16="http://schemas.microsoft.com/office/drawing/2014/main" id="{E7989939-9CDD-DFFF-6C5F-96ECD2F4DC93}"/>
              </a:ext>
            </a:extLst>
          </p:cNvPr>
          <p:cNvSpPr/>
          <p:nvPr/>
        </p:nvSpPr>
        <p:spPr>
          <a:xfrm>
            <a:off x="2657856" y="6321552"/>
            <a:ext cx="2255520" cy="414528"/>
          </a:xfrm>
          <a:prstGeom prst="rect">
            <a:avLst/>
          </a:prstGeom>
          <a:noFill/>
          <a:ln/>
        </p:spPr>
        <p:txBody>
          <a:bodyPr wrap="square" lIns="0" tIns="0" rIns="0" bIns="0" rtlCol="0" anchor="ctr"/>
          <a:lstStyle/>
          <a:p>
            <a:r>
              <a:rPr lang="en-US" sz="1133" dirty="0">
                <a:solidFill>
                  <a:schemeClr val="bg2">
                    <a:lumMod val="90000"/>
                  </a:schemeClr>
                </a:solidFill>
                <a:latin typeface="Calibri" pitchFamily="34" charset="0"/>
                <a:ea typeface="Calibri" pitchFamily="34" charset="-122"/>
                <a:cs typeface="Calibri" pitchFamily="34" charset="-120"/>
              </a:rPr>
              <a:t>2. Context</a:t>
            </a:r>
          </a:p>
        </p:txBody>
      </p:sp>
      <p:sp>
        <p:nvSpPr>
          <p:cNvPr id="32" name="Text 13">
            <a:extLst>
              <a:ext uri="{FF2B5EF4-FFF2-40B4-BE49-F238E27FC236}">
                <a16:creationId xmlns:a16="http://schemas.microsoft.com/office/drawing/2014/main" id="{960F3DB4-CF60-6396-9FCF-B19760F5CCC1}"/>
              </a:ext>
            </a:extLst>
          </p:cNvPr>
          <p:cNvSpPr/>
          <p:nvPr/>
        </p:nvSpPr>
        <p:spPr>
          <a:xfrm>
            <a:off x="4949952" y="6321552"/>
            <a:ext cx="2255520" cy="414528"/>
          </a:xfrm>
          <a:prstGeom prst="rect">
            <a:avLst/>
          </a:prstGeom>
          <a:noFill/>
          <a:ln/>
        </p:spPr>
        <p:txBody>
          <a:bodyPr wrap="square" lIns="0" tIns="0" rIns="0" bIns="0" rtlCol="0" anchor="ctr"/>
          <a:lstStyle/>
          <a:p>
            <a:r>
              <a:rPr lang="en-US" sz="1133" dirty="0">
                <a:solidFill>
                  <a:srgbClr val="00B0F0"/>
                </a:solidFill>
                <a:latin typeface="Calibri" pitchFamily="34" charset="0"/>
                <a:ea typeface="Calibri" pitchFamily="34" charset="-122"/>
                <a:cs typeface="Calibri" pitchFamily="34" charset="-120"/>
              </a:rPr>
              <a:t>3. Research Design</a:t>
            </a:r>
            <a:endParaRPr lang="en-US" sz="1133" dirty="0">
              <a:solidFill>
                <a:srgbClr val="00B0F0"/>
              </a:solidFill>
            </a:endParaRPr>
          </a:p>
        </p:txBody>
      </p:sp>
      <p:sp>
        <p:nvSpPr>
          <p:cNvPr id="33" name="Text 14">
            <a:extLst>
              <a:ext uri="{FF2B5EF4-FFF2-40B4-BE49-F238E27FC236}">
                <a16:creationId xmlns:a16="http://schemas.microsoft.com/office/drawing/2014/main" id="{C1F1DF56-D60D-1266-B8CB-7E8B36716255}"/>
              </a:ext>
            </a:extLst>
          </p:cNvPr>
          <p:cNvSpPr/>
          <p:nvPr/>
        </p:nvSpPr>
        <p:spPr>
          <a:xfrm>
            <a:off x="7242048" y="6321552"/>
            <a:ext cx="2255520" cy="414528"/>
          </a:xfrm>
          <a:prstGeom prst="rect">
            <a:avLst/>
          </a:prstGeom>
          <a:noFill/>
          <a:ln/>
        </p:spPr>
        <p:txBody>
          <a:bodyPr wrap="square" lIns="0" tIns="0" rIns="0" bIns="0" rtlCol="0" anchor="ctr"/>
          <a:lstStyle/>
          <a:p>
            <a:r>
              <a:rPr lang="en-US" sz="1133" dirty="0">
                <a:solidFill>
                  <a:schemeClr val="bg2">
                    <a:lumMod val="90000"/>
                  </a:schemeClr>
                </a:solidFill>
                <a:latin typeface="Calibri" pitchFamily="34" charset="0"/>
                <a:ea typeface="Calibri" pitchFamily="34" charset="-122"/>
                <a:cs typeface="Calibri" pitchFamily="34" charset="-120"/>
              </a:rPr>
              <a:t>4. Challenges and limitations</a:t>
            </a:r>
            <a:endParaRPr lang="en-US" sz="1133" dirty="0">
              <a:solidFill>
                <a:schemeClr val="bg2">
                  <a:lumMod val="90000"/>
                </a:schemeClr>
              </a:solidFill>
            </a:endParaRPr>
          </a:p>
        </p:txBody>
      </p:sp>
      <p:sp>
        <p:nvSpPr>
          <p:cNvPr id="34" name="Text 15">
            <a:extLst>
              <a:ext uri="{FF2B5EF4-FFF2-40B4-BE49-F238E27FC236}">
                <a16:creationId xmlns:a16="http://schemas.microsoft.com/office/drawing/2014/main" id="{7CF35CFA-FDD8-D6B9-0935-757F509F993B}"/>
              </a:ext>
            </a:extLst>
          </p:cNvPr>
          <p:cNvSpPr/>
          <p:nvPr/>
        </p:nvSpPr>
        <p:spPr>
          <a:xfrm>
            <a:off x="9534144" y="6321552"/>
            <a:ext cx="2255520" cy="414528"/>
          </a:xfrm>
          <a:prstGeom prst="rect">
            <a:avLst/>
          </a:prstGeom>
          <a:noFill/>
          <a:ln/>
        </p:spPr>
        <p:txBody>
          <a:bodyPr wrap="square" lIns="0" tIns="0" rIns="0" bIns="0" rtlCol="0" anchor="ctr"/>
          <a:lstStyle/>
          <a:p>
            <a:r>
              <a:rPr lang="en-US" sz="1133" dirty="0">
                <a:solidFill>
                  <a:schemeClr val="bg2">
                    <a:lumMod val="90000"/>
                  </a:schemeClr>
                </a:solidFill>
                <a:latin typeface="Calibri" pitchFamily="34" charset="0"/>
                <a:ea typeface="Calibri" pitchFamily="34" charset="-122"/>
                <a:cs typeface="Calibri" pitchFamily="34" charset="-120"/>
              </a:rPr>
              <a:t>5. Next Steps</a:t>
            </a:r>
            <a:endParaRPr lang="en-US" sz="1133" dirty="0">
              <a:solidFill>
                <a:schemeClr val="bg2">
                  <a:lumMod val="90000"/>
                </a:schemeClr>
              </a:solidFill>
            </a:endParaRPr>
          </a:p>
        </p:txBody>
      </p:sp>
      <p:sp>
        <p:nvSpPr>
          <p:cNvPr id="28" name="Text 18">
            <a:extLst>
              <a:ext uri="{FF2B5EF4-FFF2-40B4-BE49-F238E27FC236}">
                <a16:creationId xmlns:a16="http://schemas.microsoft.com/office/drawing/2014/main" id="{B1E74B67-BD76-E1EA-37C1-0D4392247C54}"/>
              </a:ext>
            </a:extLst>
          </p:cNvPr>
          <p:cNvSpPr/>
          <p:nvPr/>
        </p:nvSpPr>
        <p:spPr>
          <a:xfrm>
            <a:off x="6396111" y="5001344"/>
            <a:ext cx="5303520" cy="268224"/>
          </a:xfrm>
          <a:prstGeom prst="rect">
            <a:avLst/>
          </a:prstGeom>
          <a:noFill/>
          <a:ln/>
        </p:spPr>
        <p:txBody>
          <a:bodyPr wrap="square" lIns="0" tIns="0" rIns="0" bIns="0" rtlCol="0" anchor="ctr"/>
          <a:lstStyle/>
          <a:p>
            <a:r>
              <a:rPr lang="en-US" sz="1200" b="1" dirty="0">
                <a:solidFill>
                  <a:srgbClr val="888888"/>
                </a:solidFill>
                <a:latin typeface="Calibri" pitchFamily="34" charset="0"/>
                <a:ea typeface="Calibri" pitchFamily="34" charset="-122"/>
                <a:cs typeface="Calibri" pitchFamily="34" charset="-120"/>
              </a:rPr>
              <a:t>ADMINISTRATIVE DATA – NATIONAL DEPARTMENT OFFICE</a:t>
            </a:r>
            <a:endParaRPr lang="en-US" sz="1200" dirty="0"/>
          </a:p>
        </p:txBody>
      </p:sp>
      <p:sp>
        <p:nvSpPr>
          <p:cNvPr id="10" name="Text 15">
            <a:extLst>
              <a:ext uri="{FF2B5EF4-FFF2-40B4-BE49-F238E27FC236}">
                <a16:creationId xmlns:a16="http://schemas.microsoft.com/office/drawing/2014/main" id="{CC0785DF-E047-7B3D-D911-331B3137D945}"/>
              </a:ext>
            </a:extLst>
          </p:cNvPr>
          <p:cNvSpPr/>
          <p:nvPr/>
        </p:nvSpPr>
        <p:spPr>
          <a:xfrm>
            <a:off x="6396111" y="5781655"/>
            <a:ext cx="5228334" cy="384047"/>
          </a:xfrm>
          <a:prstGeom prst="rect">
            <a:avLst/>
          </a:prstGeom>
          <a:solidFill>
            <a:srgbClr val="002060"/>
          </a:solidFill>
          <a:ln/>
        </p:spPr>
        <p:txBody>
          <a:bodyPr wrap="square" lIns="0" tIns="0" rIns="0" bIns="0" rtlCol="0" anchor="ctr"/>
          <a:lstStyle/>
          <a:p>
            <a:pPr marL="0" indent="0" algn="ctr">
              <a:buNone/>
            </a:pPr>
            <a:r>
              <a:rPr lang="en-US" sz="1200" dirty="0">
                <a:solidFill>
                  <a:schemeClr val="bg1"/>
                </a:solidFill>
                <a:latin typeface="Calibri" pitchFamily="34" charset="0"/>
                <a:ea typeface="Calibri" pitchFamily="34" charset="-122"/>
                <a:cs typeface="Calibri" pitchFamily="34" charset="-120"/>
              </a:rPr>
              <a:t>Panel: 1,122 municipalities × 2011–2024 </a:t>
            </a:r>
            <a:endParaRPr lang="en-US" sz="1200" dirty="0">
              <a:solidFill>
                <a:schemeClr val="bg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65632" y="341376"/>
            <a:ext cx="10728960" cy="633984"/>
          </a:xfrm>
          <a:prstGeom prst="rect">
            <a:avLst/>
          </a:prstGeom>
          <a:noFill/>
          <a:ln/>
        </p:spPr>
        <p:txBody>
          <a:bodyPr wrap="square" lIns="0" tIns="0" rIns="0" bIns="0" rtlCol="0" anchor="ctr"/>
          <a:lstStyle/>
          <a:p>
            <a:r>
              <a:rPr lang="en-US" sz="3733" b="1" dirty="0">
                <a:solidFill>
                  <a:srgbClr val="002060"/>
                </a:solidFill>
                <a:latin typeface="Calibri" pitchFamily="34" charset="0"/>
                <a:ea typeface="Calibri" pitchFamily="34" charset="-122"/>
                <a:cs typeface="Calibri" pitchFamily="34" charset="-120"/>
              </a:rPr>
              <a:t>Challenges and limitations</a:t>
            </a:r>
            <a:endParaRPr lang="en-US" sz="3733" dirty="0">
              <a:solidFill>
                <a:srgbClr val="002060"/>
              </a:solidFill>
            </a:endParaRPr>
          </a:p>
        </p:txBody>
      </p:sp>
      <p:sp>
        <p:nvSpPr>
          <p:cNvPr id="3" name="Shape 1"/>
          <p:cNvSpPr/>
          <p:nvPr/>
        </p:nvSpPr>
        <p:spPr>
          <a:xfrm>
            <a:off x="670560" y="1024128"/>
            <a:ext cx="10850880" cy="0"/>
          </a:xfrm>
          <a:prstGeom prst="line">
            <a:avLst/>
          </a:prstGeom>
          <a:noFill/>
          <a:ln w="9525">
            <a:solidFill>
              <a:srgbClr val="DDDDDD"/>
            </a:solidFill>
            <a:prstDash val="solid"/>
          </a:ln>
        </p:spPr>
        <p:txBody>
          <a:bodyPr/>
          <a:lstStyle/>
          <a:p>
            <a:endParaRPr lang="es-CO" sz="2400"/>
          </a:p>
        </p:txBody>
      </p:sp>
      <p:sp>
        <p:nvSpPr>
          <p:cNvPr id="7" name="Text 5"/>
          <p:cNvSpPr/>
          <p:nvPr/>
        </p:nvSpPr>
        <p:spPr>
          <a:xfrm>
            <a:off x="861568" y="1479368"/>
            <a:ext cx="5388864" cy="341376"/>
          </a:xfrm>
          <a:prstGeom prst="rect">
            <a:avLst/>
          </a:prstGeom>
          <a:noFill/>
          <a:ln/>
        </p:spPr>
        <p:txBody>
          <a:bodyPr wrap="square" lIns="0" tIns="0" rIns="0" bIns="0" rtlCol="0" anchor="ctr"/>
          <a:lstStyle/>
          <a:p>
            <a:r>
              <a:rPr lang="en-US" sz="1733" b="1" dirty="0">
                <a:solidFill>
                  <a:srgbClr val="1A1A1A"/>
                </a:solidFill>
                <a:latin typeface="Calibri" pitchFamily="34" charset="0"/>
                <a:ea typeface="Calibri" pitchFamily="34" charset="-122"/>
                <a:cs typeface="Calibri" pitchFamily="34" charset="-120"/>
              </a:rPr>
              <a:t>FARC-only scope</a:t>
            </a:r>
            <a:endParaRPr lang="en-US" sz="1733" dirty="0"/>
          </a:p>
        </p:txBody>
      </p:sp>
      <p:sp>
        <p:nvSpPr>
          <p:cNvPr id="8" name="Text 6"/>
          <p:cNvSpPr/>
          <p:nvPr/>
        </p:nvSpPr>
        <p:spPr>
          <a:xfrm>
            <a:off x="861568" y="1845128"/>
            <a:ext cx="5038427" cy="755904"/>
          </a:xfrm>
          <a:prstGeom prst="rect">
            <a:avLst/>
          </a:prstGeom>
          <a:noFill/>
          <a:ln/>
        </p:spPr>
        <p:txBody>
          <a:bodyPr wrap="square" lIns="0" tIns="0" rIns="0" bIns="0" rtlCol="0" anchor="t"/>
          <a:lstStyle/>
          <a:p>
            <a:r>
              <a:rPr lang="en-US" sz="1400" dirty="0">
                <a:solidFill>
                  <a:srgbClr val="333333"/>
                </a:solidFill>
                <a:latin typeface="Calibri" pitchFamily="34" charset="0"/>
                <a:ea typeface="Calibri" pitchFamily="34" charset="-122"/>
                <a:cs typeface="Calibri" pitchFamily="34" charset="-120"/>
              </a:rPr>
              <a:t>The agreement covers FARC exclusively. ELN, paramilitaries, and successor groups continue operating, and their violence may attenuate or confound the estimated effect.</a:t>
            </a:r>
            <a:endParaRPr lang="en-US" sz="1400" dirty="0"/>
          </a:p>
        </p:txBody>
      </p:sp>
      <p:sp>
        <p:nvSpPr>
          <p:cNvPr id="9" name="Text 7"/>
          <p:cNvSpPr/>
          <p:nvPr/>
        </p:nvSpPr>
        <p:spPr>
          <a:xfrm>
            <a:off x="861568" y="2674184"/>
            <a:ext cx="5038424" cy="512064"/>
          </a:xfrm>
          <a:prstGeom prst="rect">
            <a:avLst/>
          </a:prstGeom>
          <a:noFill/>
          <a:ln/>
        </p:spPr>
        <p:txBody>
          <a:bodyPr wrap="square" lIns="0" tIns="0" rIns="0" bIns="0" rtlCol="0" anchor="t"/>
          <a:lstStyle/>
          <a:p>
            <a:r>
              <a:rPr lang="en-US" sz="1267" b="1" dirty="0">
                <a:solidFill>
                  <a:srgbClr val="555555"/>
                </a:solidFill>
                <a:latin typeface="Calibri" pitchFamily="34" charset="0"/>
                <a:ea typeface="Calibri" pitchFamily="34" charset="-122"/>
                <a:cs typeface="Calibri" pitchFamily="34" charset="-120"/>
              </a:rPr>
              <a:t>→  </a:t>
            </a:r>
            <a:r>
              <a:rPr lang="en-US" sz="1267" dirty="0">
                <a:solidFill>
                  <a:srgbClr val="888888"/>
                </a:solidFill>
                <a:latin typeface="Calibri" pitchFamily="34" charset="0"/>
                <a:ea typeface="Calibri" pitchFamily="34" charset="-122"/>
                <a:cs typeface="Calibri" pitchFamily="34" charset="-120"/>
              </a:rPr>
              <a:t>Include the other conflict actors’ activity index as a control variable</a:t>
            </a:r>
            <a:endParaRPr lang="en-US" sz="1267" dirty="0"/>
          </a:p>
        </p:txBody>
      </p:sp>
      <p:sp>
        <p:nvSpPr>
          <p:cNvPr id="10" name="Text 8"/>
          <p:cNvSpPr/>
          <p:nvPr/>
        </p:nvSpPr>
        <p:spPr>
          <a:xfrm>
            <a:off x="861568" y="3409379"/>
            <a:ext cx="5388864" cy="341376"/>
          </a:xfrm>
          <a:prstGeom prst="rect">
            <a:avLst/>
          </a:prstGeom>
          <a:noFill/>
          <a:ln/>
        </p:spPr>
        <p:txBody>
          <a:bodyPr wrap="square" lIns="0" tIns="0" rIns="0" bIns="0" rtlCol="0" anchor="ctr"/>
          <a:lstStyle/>
          <a:p>
            <a:r>
              <a:rPr lang="en-US" sz="1733" b="1" dirty="0">
                <a:solidFill>
                  <a:srgbClr val="1A1A1A"/>
                </a:solidFill>
                <a:latin typeface="Calibri" pitchFamily="34" charset="0"/>
                <a:ea typeface="Calibri" pitchFamily="34" charset="-122"/>
                <a:cs typeface="Calibri" pitchFamily="34" charset="-120"/>
              </a:rPr>
              <a:t>Treatment measure</a:t>
            </a:r>
            <a:endParaRPr lang="en-US" sz="1733" dirty="0"/>
          </a:p>
        </p:txBody>
      </p:sp>
      <p:sp>
        <p:nvSpPr>
          <p:cNvPr id="11" name="Text 9"/>
          <p:cNvSpPr/>
          <p:nvPr/>
        </p:nvSpPr>
        <p:spPr>
          <a:xfrm>
            <a:off x="861569" y="3775139"/>
            <a:ext cx="5080001" cy="755904"/>
          </a:xfrm>
          <a:prstGeom prst="rect">
            <a:avLst/>
          </a:prstGeom>
          <a:noFill/>
          <a:ln/>
        </p:spPr>
        <p:txBody>
          <a:bodyPr wrap="square" lIns="0" tIns="0" rIns="0" bIns="0" rtlCol="0" anchor="t"/>
          <a:lstStyle/>
          <a:p>
            <a:r>
              <a:rPr lang="en-US" sz="1400" dirty="0">
                <a:solidFill>
                  <a:srgbClr val="333333"/>
                </a:solidFill>
                <a:latin typeface="Calibri" pitchFamily="34" charset="0"/>
                <a:ea typeface="Calibri" pitchFamily="34" charset="-122"/>
                <a:cs typeface="Calibri" pitchFamily="34" charset="-120"/>
              </a:rPr>
              <a:t>A single threshold to classify high/low FARC exposure loses within-group intensity variation. Different cutoffs (median, percentiles) may produce different results.</a:t>
            </a:r>
            <a:endParaRPr lang="en-US" sz="1400" dirty="0"/>
          </a:p>
        </p:txBody>
      </p:sp>
      <p:sp>
        <p:nvSpPr>
          <p:cNvPr id="12" name="Text 10"/>
          <p:cNvSpPr/>
          <p:nvPr/>
        </p:nvSpPr>
        <p:spPr>
          <a:xfrm>
            <a:off x="861568" y="4604195"/>
            <a:ext cx="5038424" cy="512064"/>
          </a:xfrm>
          <a:prstGeom prst="rect">
            <a:avLst/>
          </a:prstGeom>
          <a:noFill/>
          <a:ln/>
        </p:spPr>
        <p:txBody>
          <a:bodyPr wrap="square" lIns="0" tIns="0" rIns="0" bIns="0" rtlCol="0" anchor="t"/>
          <a:lstStyle/>
          <a:p>
            <a:r>
              <a:rPr lang="en-US" sz="1267" b="1" dirty="0">
                <a:solidFill>
                  <a:srgbClr val="555555"/>
                </a:solidFill>
                <a:latin typeface="Calibri" pitchFamily="34" charset="0"/>
                <a:ea typeface="Calibri" pitchFamily="34" charset="-122"/>
                <a:cs typeface="Calibri" pitchFamily="34" charset="-120"/>
              </a:rPr>
              <a:t>→  </a:t>
            </a:r>
            <a:r>
              <a:rPr lang="en-US" sz="1267" dirty="0">
                <a:solidFill>
                  <a:srgbClr val="888888"/>
                </a:solidFill>
                <a:latin typeface="Calibri" pitchFamily="34" charset="0"/>
                <a:ea typeface="Calibri" pitchFamily="34" charset="-122"/>
                <a:cs typeface="Calibri" pitchFamily="34" charset="-120"/>
              </a:rPr>
              <a:t>Robustness checks with multiple thresholds and a continuous exposure measure</a:t>
            </a:r>
            <a:endParaRPr lang="en-US" sz="1267" dirty="0"/>
          </a:p>
        </p:txBody>
      </p:sp>
      <p:sp>
        <p:nvSpPr>
          <p:cNvPr id="13" name="Shape 11"/>
          <p:cNvSpPr/>
          <p:nvPr/>
        </p:nvSpPr>
        <p:spPr>
          <a:xfrm>
            <a:off x="6096000" y="1282985"/>
            <a:ext cx="0" cy="4931824"/>
          </a:xfrm>
          <a:prstGeom prst="line">
            <a:avLst/>
          </a:prstGeom>
          <a:noFill/>
          <a:ln w="9525">
            <a:solidFill>
              <a:srgbClr val="DDDDDD"/>
            </a:solidFill>
            <a:prstDash val="solid"/>
          </a:ln>
        </p:spPr>
        <p:txBody>
          <a:bodyPr/>
          <a:lstStyle/>
          <a:p>
            <a:endParaRPr lang="es-CO" sz="2400"/>
          </a:p>
        </p:txBody>
      </p:sp>
      <p:sp>
        <p:nvSpPr>
          <p:cNvPr id="14" name="Text 12"/>
          <p:cNvSpPr/>
          <p:nvPr/>
        </p:nvSpPr>
        <p:spPr>
          <a:xfrm>
            <a:off x="6292005" y="1487568"/>
            <a:ext cx="5388864" cy="341376"/>
          </a:xfrm>
          <a:prstGeom prst="rect">
            <a:avLst/>
          </a:prstGeom>
          <a:noFill/>
          <a:ln/>
        </p:spPr>
        <p:txBody>
          <a:bodyPr wrap="square" lIns="0" tIns="0" rIns="0" bIns="0" rtlCol="0" anchor="ctr"/>
          <a:lstStyle/>
          <a:p>
            <a:r>
              <a:rPr lang="en-US" sz="1733" b="1" dirty="0">
                <a:solidFill>
                  <a:srgbClr val="1A1A1A"/>
                </a:solidFill>
                <a:latin typeface="Calibri" pitchFamily="34" charset="0"/>
                <a:ea typeface="Calibri" pitchFamily="34" charset="-122"/>
                <a:cs typeface="Calibri" pitchFamily="34" charset="-120"/>
              </a:rPr>
              <a:t>Confounding educational policies</a:t>
            </a:r>
            <a:endParaRPr lang="en-US" sz="1733" dirty="0"/>
          </a:p>
        </p:txBody>
      </p:sp>
      <p:sp>
        <p:nvSpPr>
          <p:cNvPr id="15" name="Text 13"/>
          <p:cNvSpPr/>
          <p:nvPr/>
        </p:nvSpPr>
        <p:spPr>
          <a:xfrm>
            <a:off x="6292005" y="1853328"/>
            <a:ext cx="5388864" cy="755904"/>
          </a:xfrm>
          <a:prstGeom prst="rect">
            <a:avLst/>
          </a:prstGeom>
          <a:noFill/>
          <a:ln/>
        </p:spPr>
        <p:txBody>
          <a:bodyPr wrap="square" lIns="0" tIns="0" rIns="0" bIns="0" rtlCol="0" anchor="t"/>
          <a:lstStyle/>
          <a:p>
            <a:r>
              <a:rPr lang="en-US" sz="1400" dirty="0">
                <a:solidFill>
                  <a:srgbClr val="333333"/>
                </a:solidFill>
                <a:latin typeface="Calibri" pitchFamily="34" charset="0"/>
                <a:ea typeface="Calibri" pitchFamily="34" charset="-122"/>
                <a:cs typeface="Calibri" pitchFamily="34" charset="-120"/>
              </a:rPr>
              <a:t>The HE access programmes (Ser Pilo Paga, Generacion E) overlap with the treatment period. Year FE absorbs common shocks, but differential program penetration in treated municipalities would confound the estimate.</a:t>
            </a:r>
            <a:endParaRPr lang="en-US" sz="1400" dirty="0"/>
          </a:p>
        </p:txBody>
      </p:sp>
      <p:sp>
        <p:nvSpPr>
          <p:cNvPr id="16" name="Text 14"/>
          <p:cNvSpPr/>
          <p:nvPr/>
        </p:nvSpPr>
        <p:spPr>
          <a:xfrm>
            <a:off x="6292005" y="2743344"/>
            <a:ext cx="5388864" cy="512064"/>
          </a:xfrm>
          <a:prstGeom prst="rect">
            <a:avLst/>
          </a:prstGeom>
          <a:noFill/>
          <a:ln/>
        </p:spPr>
        <p:txBody>
          <a:bodyPr wrap="square" lIns="0" tIns="0" rIns="0" bIns="0" rtlCol="0" anchor="t"/>
          <a:lstStyle/>
          <a:p>
            <a:r>
              <a:rPr lang="en-US" sz="1267" dirty="0">
                <a:solidFill>
                  <a:srgbClr val="888888"/>
                </a:solidFill>
                <a:latin typeface="Calibri" pitchFamily="34" charset="0"/>
                <a:ea typeface="Calibri" pitchFamily="34" charset="-122"/>
                <a:cs typeface="Calibri" pitchFamily="34" charset="-120"/>
              </a:rPr>
              <a:t>→  Check available information to control for the program incidence per municipality.</a:t>
            </a:r>
          </a:p>
        </p:txBody>
      </p:sp>
      <p:sp>
        <p:nvSpPr>
          <p:cNvPr id="17" name="Text 15"/>
          <p:cNvSpPr/>
          <p:nvPr/>
        </p:nvSpPr>
        <p:spPr>
          <a:xfrm>
            <a:off x="6287941" y="3407521"/>
            <a:ext cx="5388864" cy="341376"/>
          </a:xfrm>
          <a:prstGeom prst="rect">
            <a:avLst/>
          </a:prstGeom>
          <a:noFill/>
          <a:ln/>
        </p:spPr>
        <p:txBody>
          <a:bodyPr wrap="square" lIns="0" tIns="0" rIns="0" bIns="0" rtlCol="0" anchor="ctr"/>
          <a:lstStyle/>
          <a:p>
            <a:r>
              <a:rPr lang="en-US" sz="1733" b="1" dirty="0">
                <a:solidFill>
                  <a:srgbClr val="1A1A1A"/>
                </a:solidFill>
                <a:latin typeface="Calibri" pitchFamily="34" charset="0"/>
                <a:ea typeface="Calibri" pitchFamily="34" charset="-122"/>
                <a:cs typeface="Calibri" pitchFamily="34" charset="-120"/>
              </a:rPr>
              <a:t>Parallel trends and spillovers</a:t>
            </a:r>
            <a:endParaRPr lang="en-US" sz="1733" dirty="0"/>
          </a:p>
        </p:txBody>
      </p:sp>
      <p:sp>
        <p:nvSpPr>
          <p:cNvPr id="18" name="Text 16"/>
          <p:cNvSpPr/>
          <p:nvPr/>
        </p:nvSpPr>
        <p:spPr>
          <a:xfrm>
            <a:off x="6287941" y="3773281"/>
            <a:ext cx="5388864" cy="755904"/>
          </a:xfrm>
          <a:prstGeom prst="rect">
            <a:avLst/>
          </a:prstGeom>
          <a:noFill/>
          <a:ln/>
        </p:spPr>
        <p:txBody>
          <a:bodyPr wrap="square" lIns="0" tIns="0" rIns="0" bIns="0" rtlCol="0" anchor="t"/>
          <a:lstStyle/>
          <a:p>
            <a:r>
              <a:rPr lang="en-US" sz="1400" dirty="0">
                <a:solidFill>
                  <a:srgbClr val="333333"/>
                </a:solidFill>
                <a:latin typeface="Calibri" pitchFamily="34" charset="0"/>
                <a:ea typeface="Calibri" pitchFamily="34" charset="-122"/>
                <a:cs typeface="Calibri" pitchFamily="34" charset="-120"/>
              </a:rPr>
              <a:t>The key DiD assumption must be validated empirically. </a:t>
            </a:r>
          </a:p>
          <a:p>
            <a:r>
              <a:rPr lang="en-US" sz="1400" dirty="0">
                <a:solidFill>
                  <a:srgbClr val="333333"/>
                </a:solidFill>
                <a:latin typeface="Calibri" pitchFamily="34" charset="0"/>
                <a:ea typeface="Calibri" pitchFamily="34" charset="-122"/>
                <a:cs typeface="Calibri" pitchFamily="34" charset="-120"/>
              </a:rPr>
              <a:t>Additionally, violence reduction in treated municipalities may affect neighbours (SUTVA concern), contaminating the control group.</a:t>
            </a:r>
          </a:p>
          <a:p>
            <a:endParaRPr lang="en-US" sz="1400" dirty="0">
              <a:solidFill>
                <a:srgbClr val="333333"/>
              </a:solidFill>
              <a:latin typeface="Calibri" pitchFamily="34" charset="0"/>
              <a:ea typeface="Calibri" pitchFamily="34" charset="-122"/>
              <a:cs typeface="Calibri" pitchFamily="34" charset="-120"/>
            </a:endParaRPr>
          </a:p>
          <a:p>
            <a:r>
              <a:rPr lang="en-US" sz="1400" dirty="0">
                <a:solidFill>
                  <a:srgbClr val="888888"/>
                </a:solidFill>
                <a:latin typeface="Calibri" pitchFamily="34" charset="0"/>
                <a:ea typeface="Calibri" pitchFamily="34" charset="-122"/>
                <a:cs typeface="Calibri" pitchFamily="34" charset="-120"/>
              </a:rPr>
              <a:t>→  </a:t>
            </a:r>
            <a:r>
              <a:rPr lang="en-US" sz="1267" dirty="0">
                <a:solidFill>
                  <a:srgbClr val="888888"/>
                </a:solidFill>
                <a:latin typeface="Calibri" pitchFamily="34" charset="0"/>
                <a:ea typeface="Calibri" pitchFamily="34" charset="-122"/>
                <a:cs typeface="Calibri" pitchFamily="34" charset="-120"/>
              </a:rPr>
              <a:t>I will check treated municipalities and their locations. </a:t>
            </a:r>
          </a:p>
          <a:p>
            <a:endParaRPr lang="en-US" sz="1400" dirty="0">
              <a:solidFill>
                <a:srgbClr val="333333"/>
              </a:solidFill>
              <a:latin typeface="Calibri" pitchFamily="34" charset="0"/>
              <a:ea typeface="Calibri" pitchFamily="34" charset="-122"/>
              <a:cs typeface="Calibri" pitchFamily="34" charset="-120"/>
            </a:endParaRPr>
          </a:p>
        </p:txBody>
      </p:sp>
      <p:sp>
        <p:nvSpPr>
          <p:cNvPr id="20" name="Text 11">
            <a:extLst>
              <a:ext uri="{FF2B5EF4-FFF2-40B4-BE49-F238E27FC236}">
                <a16:creationId xmlns:a16="http://schemas.microsoft.com/office/drawing/2014/main" id="{519C4338-DAB9-A3B1-A7C5-4E754B6316B9}"/>
              </a:ext>
            </a:extLst>
          </p:cNvPr>
          <p:cNvSpPr/>
          <p:nvPr/>
        </p:nvSpPr>
        <p:spPr>
          <a:xfrm>
            <a:off x="365760" y="6321552"/>
            <a:ext cx="2255520" cy="414528"/>
          </a:xfrm>
          <a:prstGeom prst="rect">
            <a:avLst/>
          </a:prstGeom>
          <a:noFill/>
          <a:ln/>
        </p:spPr>
        <p:txBody>
          <a:bodyPr wrap="square" lIns="0" tIns="0" rIns="0" bIns="0" rtlCol="0" anchor="ctr"/>
          <a:lstStyle/>
          <a:p>
            <a:r>
              <a:rPr lang="en-US" sz="1133" dirty="0">
                <a:solidFill>
                  <a:schemeClr val="bg2">
                    <a:lumMod val="90000"/>
                  </a:schemeClr>
                </a:solidFill>
                <a:latin typeface="Calibri" pitchFamily="34" charset="0"/>
                <a:ea typeface="Calibri" pitchFamily="34" charset="-122"/>
                <a:cs typeface="Calibri" pitchFamily="34" charset="-120"/>
              </a:rPr>
              <a:t>1. Motivation</a:t>
            </a:r>
          </a:p>
        </p:txBody>
      </p:sp>
      <p:sp>
        <p:nvSpPr>
          <p:cNvPr id="21" name="Text 12">
            <a:extLst>
              <a:ext uri="{FF2B5EF4-FFF2-40B4-BE49-F238E27FC236}">
                <a16:creationId xmlns:a16="http://schemas.microsoft.com/office/drawing/2014/main" id="{A19E8608-8AD1-A68E-F20D-12527FACA486}"/>
              </a:ext>
            </a:extLst>
          </p:cNvPr>
          <p:cNvSpPr/>
          <p:nvPr/>
        </p:nvSpPr>
        <p:spPr>
          <a:xfrm>
            <a:off x="2657856" y="6321552"/>
            <a:ext cx="2255520" cy="414528"/>
          </a:xfrm>
          <a:prstGeom prst="rect">
            <a:avLst/>
          </a:prstGeom>
          <a:noFill/>
          <a:ln/>
        </p:spPr>
        <p:txBody>
          <a:bodyPr wrap="square" lIns="0" tIns="0" rIns="0" bIns="0" rtlCol="0" anchor="ctr"/>
          <a:lstStyle/>
          <a:p>
            <a:r>
              <a:rPr lang="en-US" sz="1133" dirty="0">
                <a:solidFill>
                  <a:schemeClr val="bg2">
                    <a:lumMod val="90000"/>
                  </a:schemeClr>
                </a:solidFill>
                <a:latin typeface="Calibri" pitchFamily="34" charset="0"/>
                <a:ea typeface="Calibri" pitchFamily="34" charset="-122"/>
                <a:cs typeface="Calibri" pitchFamily="34" charset="-120"/>
              </a:rPr>
              <a:t>2. Context</a:t>
            </a:r>
          </a:p>
        </p:txBody>
      </p:sp>
      <p:sp>
        <p:nvSpPr>
          <p:cNvPr id="22" name="Text 13">
            <a:extLst>
              <a:ext uri="{FF2B5EF4-FFF2-40B4-BE49-F238E27FC236}">
                <a16:creationId xmlns:a16="http://schemas.microsoft.com/office/drawing/2014/main" id="{74CB7971-C36A-9D03-2F84-7F1D71FB5110}"/>
              </a:ext>
            </a:extLst>
          </p:cNvPr>
          <p:cNvSpPr/>
          <p:nvPr/>
        </p:nvSpPr>
        <p:spPr>
          <a:xfrm>
            <a:off x="4949952" y="6321552"/>
            <a:ext cx="2255520" cy="414528"/>
          </a:xfrm>
          <a:prstGeom prst="rect">
            <a:avLst/>
          </a:prstGeom>
          <a:noFill/>
          <a:ln/>
        </p:spPr>
        <p:txBody>
          <a:bodyPr wrap="square" lIns="0" tIns="0" rIns="0" bIns="0" rtlCol="0" anchor="ctr"/>
          <a:lstStyle/>
          <a:p>
            <a:r>
              <a:rPr lang="en-US" sz="1133" dirty="0">
                <a:solidFill>
                  <a:schemeClr val="bg2">
                    <a:lumMod val="90000"/>
                  </a:schemeClr>
                </a:solidFill>
                <a:latin typeface="Calibri" pitchFamily="34" charset="0"/>
                <a:ea typeface="Calibri" pitchFamily="34" charset="-122"/>
                <a:cs typeface="Calibri" pitchFamily="34" charset="-120"/>
              </a:rPr>
              <a:t>3. Research Design</a:t>
            </a:r>
            <a:endParaRPr lang="en-US" sz="1133" dirty="0">
              <a:solidFill>
                <a:schemeClr val="bg2">
                  <a:lumMod val="90000"/>
                </a:schemeClr>
              </a:solidFill>
            </a:endParaRPr>
          </a:p>
        </p:txBody>
      </p:sp>
      <p:sp>
        <p:nvSpPr>
          <p:cNvPr id="23" name="Text 14">
            <a:extLst>
              <a:ext uri="{FF2B5EF4-FFF2-40B4-BE49-F238E27FC236}">
                <a16:creationId xmlns:a16="http://schemas.microsoft.com/office/drawing/2014/main" id="{C2605CF9-6632-9F3C-BAB8-A29AA1BBBDCD}"/>
              </a:ext>
            </a:extLst>
          </p:cNvPr>
          <p:cNvSpPr/>
          <p:nvPr/>
        </p:nvSpPr>
        <p:spPr>
          <a:xfrm>
            <a:off x="7242048" y="6321552"/>
            <a:ext cx="2255520" cy="414528"/>
          </a:xfrm>
          <a:prstGeom prst="rect">
            <a:avLst/>
          </a:prstGeom>
          <a:noFill/>
          <a:ln/>
        </p:spPr>
        <p:txBody>
          <a:bodyPr wrap="square" lIns="0" tIns="0" rIns="0" bIns="0" rtlCol="0" anchor="ctr"/>
          <a:lstStyle/>
          <a:p>
            <a:r>
              <a:rPr lang="en-US" sz="1133" dirty="0">
                <a:solidFill>
                  <a:srgbClr val="00B0F0"/>
                </a:solidFill>
                <a:latin typeface="Calibri" pitchFamily="34" charset="0"/>
                <a:ea typeface="Calibri" pitchFamily="34" charset="-122"/>
                <a:cs typeface="Calibri" pitchFamily="34" charset="-120"/>
              </a:rPr>
              <a:t>4. Challenges and Limitations</a:t>
            </a:r>
            <a:endParaRPr lang="en-US" sz="1133" dirty="0">
              <a:solidFill>
                <a:srgbClr val="00B0F0"/>
              </a:solidFill>
            </a:endParaRPr>
          </a:p>
        </p:txBody>
      </p:sp>
      <p:sp>
        <p:nvSpPr>
          <p:cNvPr id="24" name="Text 15">
            <a:extLst>
              <a:ext uri="{FF2B5EF4-FFF2-40B4-BE49-F238E27FC236}">
                <a16:creationId xmlns:a16="http://schemas.microsoft.com/office/drawing/2014/main" id="{A45E8C28-4824-0615-DD53-CA08AA024311}"/>
              </a:ext>
            </a:extLst>
          </p:cNvPr>
          <p:cNvSpPr/>
          <p:nvPr/>
        </p:nvSpPr>
        <p:spPr>
          <a:xfrm>
            <a:off x="9534144" y="6321552"/>
            <a:ext cx="2255520" cy="414528"/>
          </a:xfrm>
          <a:prstGeom prst="rect">
            <a:avLst/>
          </a:prstGeom>
          <a:noFill/>
          <a:ln/>
        </p:spPr>
        <p:txBody>
          <a:bodyPr wrap="square" lIns="0" tIns="0" rIns="0" bIns="0" rtlCol="0" anchor="ctr"/>
          <a:lstStyle/>
          <a:p>
            <a:r>
              <a:rPr lang="en-US" sz="1133" dirty="0">
                <a:solidFill>
                  <a:schemeClr val="bg2">
                    <a:lumMod val="90000"/>
                  </a:schemeClr>
                </a:solidFill>
                <a:latin typeface="Calibri" pitchFamily="34" charset="0"/>
                <a:ea typeface="Calibri" pitchFamily="34" charset="-122"/>
                <a:cs typeface="Calibri" pitchFamily="34" charset="-120"/>
              </a:rPr>
              <a:t>5. Next Steps</a:t>
            </a:r>
            <a:endParaRPr lang="en-US" sz="1133" dirty="0">
              <a:solidFill>
                <a:schemeClr val="bg2">
                  <a:lumMod val="90000"/>
                </a:schemeClr>
              </a:solidFill>
            </a:endParaRPr>
          </a:p>
        </p:txBody>
      </p:sp>
      <p:sp>
        <p:nvSpPr>
          <p:cNvPr id="25" name="Shape 10">
            <a:extLst>
              <a:ext uri="{FF2B5EF4-FFF2-40B4-BE49-F238E27FC236}">
                <a16:creationId xmlns:a16="http://schemas.microsoft.com/office/drawing/2014/main" id="{37ABCCF7-DDB6-9F8E-5436-3F479ADB5D1F}"/>
              </a:ext>
            </a:extLst>
          </p:cNvPr>
          <p:cNvSpPr/>
          <p:nvPr/>
        </p:nvSpPr>
        <p:spPr>
          <a:xfrm>
            <a:off x="670560" y="6248400"/>
            <a:ext cx="10850880" cy="0"/>
          </a:xfrm>
          <a:prstGeom prst="line">
            <a:avLst/>
          </a:prstGeom>
          <a:noFill/>
          <a:ln w="9525">
            <a:solidFill>
              <a:srgbClr val="DDDDDD"/>
            </a:solidFill>
            <a:prstDash val="solid"/>
          </a:ln>
        </p:spPr>
        <p:txBody>
          <a:bodyPr/>
          <a:lstStyle/>
          <a:p>
            <a:endParaRPr lang="es-CO" sz="24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51413" y="316992"/>
            <a:ext cx="10728960" cy="633984"/>
          </a:xfrm>
          <a:prstGeom prst="rect">
            <a:avLst/>
          </a:prstGeom>
          <a:noFill/>
          <a:ln/>
        </p:spPr>
        <p:txBody>
          <a:bodyPr wrap="square" lIns="0" tIns="0" rIns="0" bIns="0" rtlCol="0" anchor="ctr"/>
          <a:lstStyle/>
          <a:p>
            <a:r>
              <a:rPr lang="en-US" sz="3733" b="1" dirty="0">
                <a:solidFill>
                  <a:srgbClr val="002060"/>
                </a:solidFill>
                <a:latin typeface="Calibri" pitchFamily="34" charset="0"/>
                <a:ea typeface="Calibri" pitchFamily="34" charset="-122"/>
                <a:cs typeface="Calibri" pitchFamily="34" charset="-120"/>
              </a:rPr>
              <a:t>Next Steps</a:t>
            </a:r>
            <a:endParaRPr lang="en-US" sz="3733" dirty="0">
              <a:solidFill>
                <a:srgbClr val="002060"/>
              </a:solidFill>
            </a:endParaRPr>
          </a:p>
        </p:txBody>
      </p:sp>
      <p:sp>
        <p:nvSpPr>
          <p:cNvPr id="3" name="Shape 1"/>
          <p:cNvSpPr/>
          <p:nvPr/>
        </p:nvSpPr>
        <p:spPr>
          <a:xfrm>
            <a:off x="670560" y="1024128"/>
            <a:ext cx="10850880" cy="0"/>
          </a:xfrm>
          <a:prstGeom prst="line">
            <a:avLst/>
          </a:prstGeom>
          <a:noFill/>
          <a:ln w="9525">
            <a:solidFill>
              <a:srgbClr val="DDDDDD"/>
            </a:solidFill>
            <a:prstDash val="solid"/>
          </a:ln>
        </p:spPr>
        <p:txBody>
          <a:bodyPr/>
          <a:lstStyle/>
          <a:p>
            <a:endParaRPr lang="es-CO" sz="2400"/>
          </a:p>
        </p:txBody>
      </p:sp>
      <p:sp>
        <p:nvSpPr>
          <p:cNvPr id="16" name="Text 14"/>
          <p:cNvSpPr/>
          <p:nvPr/>
        </p:nvSpPr>
        <p:spPr>
          <a:xfrm>
            <a:off x="837189" y="1271777"/>
            <a:ext cx="2438400" cy="268224"/>
          </a:xfrm>
          <a:prstGeom prst="rect">
            <a:avLst/>
          </a:prstGeom>
          <a:noFill/>
          <a:ln/>
        </p:spPr>
        <p:txBody>
          <a:bodyPr wrap="square" lIns="0" tIns="0" rIns="0" bIns="0" rtlCol="0" anchor="ctr"/>
          <a:lstStyle/>
          <a:p>
            <a:r>
              <a:rPr lang="en-US" sz="2400" b="1" kern="0" spc="133" dirty="0">
                <a:solidFill>
                  <a:srgbClr val="888888"/>
                </a:solidFill>
                <a:latin typeface="Calibri" pitchFamily="34" charset="0"/>
                <a:ea typeface="Calibri" pitchFamily="34" charset="-122"/>
                <a:cs typeface="Calibri" pitchFamily="34" charset="-120"/>
              </a:rPr>
              <a:t>1</a:t>
            </a:r>
            <a:endParaRPr lang="en-US" sz="2400" dirty="0"/>
          </a:p>
        </p:txBody>
      </p:sp>
      <p:sp>
        <p:nvSpPr>
          <p:cNvPr id="17" name="Text 15"/>
          <p:cNvSpPr/>
          <p:nvPr/>
        </p:nvSpPr>
        <p:spPr>
          <a:xfrm>
            <a:off x="1123701" y="1527809"/>
            <a:ext cx="2940304" cy="633984"/>
          </a:xfrm>
          <a:prstGeom prst="rect">
            <a:avLst/>
          </a:prstGeom>
          <a:noFill/>
          <a:ln/>
        </p:spPr>
        <p:txBody>
          <a:bodyPr wrap="square" lIns="0" tIns="0" rIns="0" bIns="0" rtlCol="0" anchor="ctr"/>
          <a:lstStyle/>
          <a:p>
            <a:r>
              <a:rPr lang="en-US" sz="1600" b="1" dirty="0">
                <a:solidFill>
                  <a:srgbClr val="1A1A1A"/>
                </a:solidFill>
                <a:latin typeface="Calibri" pitchFamily="34" charset="0"/>
                <a:ea typeface="Calibri" pitchFamily="34" charset="-122"/>
                <a:cs typeface="Calibri" pitchFamily="34" charset="-120"/>
              </a:rPr>
              <a:t>Violence measure and descriptive</a:t>
            </a:r>
            <a:endParaRPr lang="en-US" sz="1600" dirty="0"/>
          </a:p>
          <a:p>
            <a:r>
              <a:rPr lang="en-US" sz="1600" b="1" dirty="0">
                <a:solidFill>
                  <a:srgbClr val="1A1A1A"/>
                </a:solidFill>
                <a:latin typeface="Calibri" pitchFamily="34" charset="0"/>
                <a:ea typeface="Calibri" pitchFamily="34" charset="-122"/>
                <a:cs typeface="Calibri" pitchFamily="34" charset="-120"/>
              </a:rPr>
              <a:t>analysis</a:t>
            </a:r>
            <a:endParaRPr lang="en-US" sz="1600" dirty="0"/>
          </a:p>
        </p:txBody>
      </p:sp>
      <p:sp>
        <p:nvSpPr>
          <p:cNvPr id="18" name="Shape 16"/>
          <p:cNvSpPr/>
          <p:nvPr/>
        </p:nvSpPr>
        <p:spPr>
          <a:xfrm>
            <a:off x="1202949" y="2256283"/>
            <a:ext cx="2674112" cy="0"/>
          </a:xfrm>
          <a:prstGeom prst="line">
            <a:avLst/>
          </a:prstGeom>
          <a:noFill/>
          <a:ln w="9525">
            <a:solidFill>
              <a:srgbClr val="DDDDDD"/>
            </a:solidFill>
            <a:prstDash val="solid"/>
          </a:ln>
        </p:spPr>
        <p:txBody>
          <a:bodyPr/>
          <a:lstStyle/>
          <a:p>
            <a:endParaRPr lang="es-CO" sz="2400"/>
          </a:p>
        </p:txBody>
      </p:sp>
      <p:sp>
        <p:nvSpPr>
          <p:cNvPr id="19" name="Shape 17"/>
          <p:cNvSpPr/>
          <p:nvPr/>
        </p:nvSpPr>
        <p:spPr>
          <a:xfrm>
            <a:off x="1414277" y="3358641"/>
            <a:ext cx="121920" cy="121920"/>
          </a:xfrm>
          <a:prstGeom prst="ellipse">
            <a:avLst/>
          </a:prstGeom>
          <a:solidFill>
            <a:srgbClr val="1A1A1A"/>
          </a:solidFill>
          <a:ln w="12700">
            <a:solidFill>
              <a:srgbClr val="1A1A1A"/>
            </a:solidFill>
            <a:prstDash val="solid"/>
          </a:ln>
        </p:spPr>
        <p:txBody>
          <a:bodyPr/>
          <a:lstStyle/>
          <a:p>
            <a:endParaRPr lang="es-CO" sz="2400"/>
          </a:p>
        </p:txBody>
      </p:sp>
      <p:sp>
        <p:nvSpPr>
          <p:cNvPr id="20" name="Text 18"/>
          <p:cNvSpPr/>
          <p:nvPr/>
        </p:nvSpPr>
        <p:spPr>
          <a:xfrm>
            <a:off x="1658117" y="3176271"/>
            <a:ext cx="2218944" cy="755904"/>
          </a:xfrm>
          <a:prstGeom prst="rect">
            <a:avLst/>
          </a:prstGeom>
          <a:noFill/>
          <a:ln/>
        </p:spPr>
        <p:txBody>
          <a:bodyPr wrap="square" lIns="0" tIns="0" rIns="0" bIns="0" rtlCol="0" anchor="t"/>
          <a:lstStyle/>
          <a:p>
            <a:r>
              <a:rPr lang="en-US" sz="1400" dirty="0">
                <a:solidFill>
                  <a:srgbClr val="333333"/>
                </a:solidFill>
                <a:latin typeface="Calibri" pitchFamily="34" charset="0"/>
                <a:ea typeface="Calibri" pitchFamily="34" charset="-122"/>
                <a:cs typeface="Calibri" pitchFamily="34" charset="-120"/>
              </a:rPr>
              <a:t>Map treated vs. control municipalities geographically</a:t>
            </a:r>
            <a:endParaRPr lang="en-US" sz="1400" dirty="0"/>
          </a:p>
        </p:txBody>
      </p:sp>
      <p:sp>
        <p:nvSpPr>
          <p:cNvPr id="21" name="Shape 19"/>
          <p:cNvSpPr/>
          <p:nvPr/>
        </p:nvSpPr>
        <p:spPr>
          <a:xfrm>
            <a:off x="1414277" y="4024123"/>
            <a:ext cx="121920" cy="121920"/>
          </a:xfrm>
          <a:prstGeom prst="ellipse">
            <a:avLst/>
          </a:prstGeom>
          <a:solidFill>
            <a:srgbClr val="1A1A1A"/>
          </a:solidFill>
          <a:ln w="12700">
            <a:solidFill>
              <a:srgbClr val="1A1A1A"/>
            </a:solidFill>
            <a:prstDash val="solid"/>
          </a:ln>
        </p:spPr>
        <p:txBody>
          <a:bodyPr/>
          <a:lstStyle/>
          <a:p>
            <a:endParaRPr lang="es-CO" sz="2400"/>
          </a:p>
        </p:txBody>
      </p:sp>
      <p:sp>
        <p:nvSpPr>
          <p:cNvPr id="22" name="Text 20"/>
          <p:cNvSpPr/>
          <p:nvPr/>
        </p:nvSpPr>
        <p:spPr>
          <a:xfrm>
            <a:off x="1658117" y="3877819"/>
            <a:ext cx="2218944" cy="755904"/>
          </a:xfrm>
          <a:prstGeom prst="rect">
            <a:avLst/>
          </a:prstGeom>
          <a:noFill/>
          <a:ln/>
        </p:spPr>
        <p:txBody>
          <a:bodyPr wrap="square" lIns="0" tIns="0" rIns="0" bIns="0" rtlCol="0" anchor="t"/>
          <a:lstStyle/>
          <a:p>
            <a:r>
              <a:rPr lang="en-US" sz="1400" dirty="0">
                <a:solidFill>
                  <a:srgbClr val="333333"/>
                </a:solidFill>
                <a:latin typeface="Calibri" pitchFamily="34" charset="0"/>
                <a:ea typeface="Calibri" pitchFamily="34" charset="-122"/>
                <a:cs typeface="Calibri" pitchFamily="34" charset="-120"/>
              </a:rPr>
              <a:t>Plot pre-treatment trends visually (2011–2016)</a:t>
            </a:r>
            <a:endParaRPr lang="en-US" sz="1400" dirty="0"/>
          </a:p>
        </p:txBody>
      </p:sp>
      <p:sp>
        <p:nvSpPr>
          <p:cNvPr id="23" name="Shape 21"/>
          <p:cNvSpPr/>
          <p:nvPr/>
        </p:nvSpPr>
        <p:spPr>
          <a:xfrm>
            <a:off x="1414277" y="4625595"/>
            <a:ext cx="121920" cy="121920"/>
          </a:xfrm>
          <a:prstGeom prst="ellipse">
            <a:avLst/>
          </a:prstGeom>
          <a:solidFill>
            <a:srgbClr val="1A1A1A"/>
          </a:solidFill>
          <a:ln w="12700">
            <a:solidFill>
              <a:srgbClr val="1A1A1A"/>
            </a:solidFill>
            <a:prstDash val="solid"/>
          </a:ln>
        </p:spPr>
        <p:txBody>
          <a:bodyPr/>
          <a:lstStyle/>
          <a:p>
            <a:endParaRPr lang="es-CO" sz="2400"/>
          </a:p>
        </p:txBody>
      </p:sp>
      <p:sp>
        <p:nvSpPr>
          <p:cNvPr id="24" name="Text 22"/>
          <p:cNvSpPr/>
          <p:nvPr/>
        </p:nvSpPr>
        <p:spPr>
          <a:xfrm>
            <a:off x="1658117" y="4479291"/>
            <a:ext cx="2218944" cy="755904"/>
          </a:xfrm>
          <a:prstGeom prst="rect">
            <a:avLst/>
          </a:prstGeom>
          <a:noFill/>
          <a:ln/>
        </p:spPr>
        <p:txBody>
          <a:bodyPr wrap="square" lIns="0" tIns="0" rIns="0" bIns="0" rtlCol="0" anchor="t"/>
          <a:lstStyle/>
          <a:p>
            <a:r>
              <a:rPr lang="en-US" sz="1400" dirty="0">
                <a:solidFill>
                  <a:srgbClr val="333333"/>
                </a:solidFill>
                <a:latin typeface="Calibri" pitchFamily="34" charset="0"/>
                <a:ea typeface="Calibri" pitchFamily="34" charset="-122"/>
                <a:cs typeface="Calibri" pitchFamily="34" charset="-120"/>
              </a:rPr>
              <a:t>Summary statistics by treatment group</a:t>
            </a:r>
            <a:endParaRPr lang="en-US" sz="1400" dirty="0"/>
          </a:p>
        </p:txBody>
      </p:sp>
      <p:sp>
        <p:nvSpPr>
          <p:cNvPr id="27" name="Shape 25"/>
          <p:cNvSpPr/>
          <p:nvPr/>
        </p:nvSpPr>
        <p:spPr>
          <a:xfrm>
            <a:off x="4409445" y="1155954"/>
            <a:ext cx="0" cy="4933071"/>
          </a:xfrm>
          <a:prstGeom prst="line">
            <a:avLst/>
          </a:prstGeom>
          <a:noFill/>
          <a:ln w="9525">
            <a:solidFill>
              <a:srgbClr val="DDDDDD"/>
            </a:solidFill>
            <a:prstDash val="solid"/>
          </a:ln>
        </p:spPr>
        <p:txBody>
          <a:bodyPr/>
          <a:lstStyle/>
          <a:p>
            <a:endParaRPr lang="es-CO" sz="2400"/>
          </a:p>
        </p:txBody>
      </p:sp>
      <p:sp>
        <p:nvSpPr>
          <p:cNvPr id="28" name="Text 26"/>
          <p:cNvSpPr/>
          <p:nvPr/>
        </p:nvSpPr>
        <p:spPr>
          <a:xfrm>
            <a:off x="4734565" y="1263649"/>
            <a:ext cx="2438400" cy="268224"/>
          </a:xfrm>
          <a:prstGeom prst="rect">
            <a:avLst/>
          </a:prstGeom>
          <a:noFill/>
          <a:ln/>
        </p:spPr>
        <p:txBody>
          <a:bodyPr wrap="square" lIns="0" tIns="0" rIns="0" bIns="0" rtlCol="0" anchor="ctr"/>
          <a:lstStyle/>
          <a:p>
            <a:r>
              <a:rPr lang="en-US" sz="2400" b="1" kern="0" spc="133" dirty="0">
                <a:solidFill>
                  <a:srgbClr val="888888"/>
                </a:solidFill>
                <a:latin typeface="Calibri" pitchFamily="34" charset="0"/>
                <a:ea typeface="Calibri" pitchFamily="34" charset="-122"/>
                <a:cs typeface="Calibri" pitchFamily="34" charset="-120"/>
              </a:rPr>
              <a:t>2</a:t>
            </a:r>
          </a:p>
        </p:txBody>
      </p:sp>
      <p:sp>
        <p:nvSpPr>
          <p:cNvPr id="29" name="Text 27"/>
          <p:cNvSpPr/>
          <p:nvPr/>
        </p:nvSpPr>
        <p:spPr>
          <a:xfrm>
            <a:off x="4941831" y="1403857"/>
            <a:ext cx="3438139" cy="633984"/>
          </a:xfrm>
          <a:prstGeom prst="rect">
            <a:avLst/>
          </a:prstGeom>
          <a:noFill/>
          <a:ln/>
        </p:spPr>
        <p:txBody>
          <a:bodyPr wrap="square" lIns="0" tIns="0" rIns="0" bIns="0" rtlCol="0" anchor="ctr"/>
          <a:lstStyle/>
          <a:p>
            <a:r>
              <a:rPr lang="en-US" sz="1600" b="1" dirty="0">
                <a:solidFill>
                  <a:srgbClr val="1A1A1A"/>
                </a:solidFill>
                <a:latin typeface="Calibri" pitchFamily="34" charset="0"/>
                <a:ea typeface="Calibri" pitchFamily="34" charset="-122"/>
                <a:cs typeface="Calibri" pitchFamily="34" charset="-120"/>
              </a:rPr>
              <a:t>Main Estimation &amp; Robustness</a:t>
            </a:r>
            <a:endParaRPr lang="en-US" sz="1600" dirty="0"/>
          </a:p>
        </p:txBody>
      </p:sp>
      <p:sp>
        <p:nvSpPr>
          <p:cNvPr id="30" name="Shape 28"/>
          <p:cNvSpPr/>
          <p:nvPr/>
        </p:nvSpPr>
        <p:spPr>
          <a:xfrm>
            <a:off x="5088133" y="2231899"/>
            <a:ext cx="2255520" cy="0"/>
          </a:xfrm>
          <a:prstGeom prst="line">
            <a:avLst/>
          </a:prstGeom>
          <a:noFill/>
          <a:ln w="9525">
            <a:solidFill>
              <a:srgbClr val="DDDDDD"/>
            </a:solidFill>
            <a:prstDash val="solid"/>
          </a:ln>
        </p:spPr>
        <p:txBody>
          <a:bodyPr/>
          <a:lstStyle/>
          <a:p>
            <a:endParaRPr lang="es-CO" sz="2400"/>
          </a:p>
        </p:txBody>
      </p:sp>
      <p:sp>
        <p:nvSpPr>
          <p:cNvPr id="31" name="Shape 29"/>
          <p:cNvSpPr/>
          <p:nvPr/>
        </p:nvSpPr>
        <p:spPr>
          <a:xfrm>
            <a:off x="5088133" y="2675891"/>
            <a:ext cx="121920" cy="121920"/>
          </a:xfrm>
          <a:prstGeom prst="ellipse">
            <a:avLst/>
          </a:prstGeom>
          <a:solidFill>
            <a:srgbClr val="1A1A1A"/>
          </a:solidFill>
          <a:ln w="12700">
            <a:solidFill>
              <a:srgbClr val="1A1A1A"/>
            </a:solidFill>
            <a:prstDash val="solid"/>
          </a:ln>
        </p:spPr>
        <p:txBody>
          <a:bodyPr/>
          <a:lstStyle/>
          <a:p>
            <a:endParaRPr lang="es-CO" sz="2400"/>
          </a:p>
        </p:txBody>
      </p:sp>
      <p:sp>
        <p:nvSpPr>
          <p:cNvPr id="32" name="Text 30"/>
          <p:cNvSpPr/>
          <p:nvPr/>
        </p:nvSpPr>
        <p:spPr>
          <a:xfrm>
            <a:off x="5331973" y="2529587"/>
            <a:ext cx="2218944" cy="755904"/>
          </a:xfrm>
          <a:prstGeom prst="rect">
            <a:avLst/>
          </a:prstGeom>
          <a:noFill/>
          <a:ln/>
        </p:spPr>
        <p:txBody>
          <a:bodyPr wrap="square" lIns="0" tIns="0" rIns="0" bIns="0" rtlCol="0" anchor="t"/>
          <a:lstStyle/>
          <a:p>
            <a:r>
              <a:rPr lang="en-US" sz="1400" dirty="0">
                <a:solidFill>
                  <a:srgbClr val="333333"/>
                </a:solidFill>
                <a:latin typeface="Calibri" pitchFamily="34" charset="0"/>
                <a:ea typeface="Calibri" pitchFamily="34" charset="-122"/>
                <a:cs typeface="Calibri" pitchFamily="34" charset="-120"/>
              </a:rPr>
              <a:t>Two-way FE </a:t>
            </a:r>
            <a:r>
              <a:rPr lang="en-US" sz="1400" dirty="0" err="1">
                <a:solidFill>
                  <a:srgbClr val="333333"/>
                </a:solidFill>
                <a:latin typeface="Calibri" pitchFamily="34" charset="0"/>
                <a:ea typeface="Calibri" pitchFamily="34" charset="-122"/>
                <a:cs typeface="Calibri" pitchFamily="34" charset="-120"/>
              </a:rPr>
              <a:t>DiD</a:t>
            </a:r>
            <a:r>
              <a:rPr lang="en-US" sz="1400" dirty="0">
                <a:solidFill>
                  <a:srgbClr val="333333"/>
                </a:solidFill>
                <a:latin typeface="Calibri" pitchFamily="34" charset="0"/>
                <a:ea typeface="Calibri" pitchFamily="34" charset="-122"/>
                <a:cs typeface="Calibri" pitchFamily="34" charset="-120"/>
              </a:rPr>
              <a:t> with municipality and year FE, SE clustered at the municipality level</a:t>
            </a:r>
            <a:endParaRPr lang="en-US" sz="1400" dirty="0"/>
          </a:p>
        </p:txBody>
      </p:sp>
      <p:sp>
        <p:nvSpPr>
          <p:cNvPr id="35" name="Shape 33"/>
          <p:cNvSpPr/>
          <p:nvPr/>
        </p:nvSpPr>
        <p:spPr>
          <a:xfrm>
            <a:off x="5092197" y="3639397"/>
            <a:ext cx="121920" cy="121920"/>
          </a:xfrm>
          <a:prstGeom prst="ellipse">
            <a:avLst/>
          </a:prstGeom>
          <a:solidFill>
            <a:srgbClr val="1A1A1A"/>
          </a:solidFill>
          <a:ln w="12700">
            <a:solidFill>
              <a:srgbClr val="1A1A1A"/>
            </a:solidFill>
            <a:prstDash val="solid"/>
          </a:ln>
        </p:spPr>
        <p:txBody>
          <a:bodyPr/>
          <a:lstStyle/>
          <a:p>
            <a:endParaRPr lang="es-CO" sz="2400"/>
          </a:p>
        </p:txBody>
      </p:sp>
      <p:sp>
        <p:nvSpPr>
          <p:cNvPr id="36" name="Text 34"/>
          <p:cNvSpPr/>
          <p:nvPr/>
        </p:nvSpPr>
        <p:spPr>
          <a:xfrm>
            <a:off x="5336037" y="3493093"/>
            <a:ext cx="2218944" cy="755904"/>
          </a:xfrm>
          <a:prstGeom prst="rect">
            <a:avLst/>
          </a:prstGeom>
          <a:noFill/>
          <a:ln/>
        </p:spPr>
        <p:txBody>
          <a:bodyPr wrap="square" lIns="0" tIns="0" rIns="0" bIns="0" rtlCol="0" anchor="t"/>
          <a:lstStyle/>
          <a:p>
            <a:r>
              <a:rPr lang="en-US" sz="1400" dirty="0">
                <a:solidFill>
                  <a:srgbClr val="333333"/>
                </a:solidFill>
                <a:latin typeface="Calibri" pitchFamily="34" charset="0"/>
                <a:ea typeface="Calibri" pitchFamily="34" charset="-122"/>
                <a:cs typeface="Calibri" pitchFamily="34" charset="-120"/>
              </a:rPr>
              <a:t>Alternative violence thresholds (median, percentiles) and continuous exposure</a:t>
            </a:r>
            <a:endParaRPr lang="en-US" sz="1400" dirty="0"/>
          </a:p>
        </p:txBody>
      </p:sp>
      <p:sp>
        <p:nvSpPr>
          <p:cNvPr id="37" name="Shape 35"/>
          <p:cNvSpPr/>
          <p:nvPr/>
        </p:nvSpPr>
        <p:spPr>
          <a:xfrm>
            <a:off x="5092197" y="4698747"/>
            <a:ext cx="121920" cy="121920"/>
          </a:xfrm>
          <a:prstGeom prst="ellipse">
            <a:avLst/>
          </a:prstGeom>
          <a:solidFill>
            <a:srgbClr val="1A1A1A"/>
          </a:solidFill>
          <a:ln w="12700">
            <a:solidFill>
              <a:srgbClr val="1A1A1A"/>
            </a:solidFill>
            <a:prstDash val="solid"/>
          </a:ln>
        </p:spPr>
        <p:txBody>
          <a:bodyPr/>
          <a:lstStyle/>
          <a:p>
            <a:endParaRPr lang="es-CO" sz="2400"/>
          </a:p>
        </p:txBody>
      </p:sp>
      <p:sp>
        <p:nvSpPr>
          <p:cNvPr id="38" name="Text 36"/>
          <p:cNvSpPr/>
          <p:nvPr/>
        </p:nvSpPr>
        <p:spPr>
          <a:xfrm>
            <a:off x="5336037" y="4565989"/>
            <a:ext cx="2218944" cy="755904"/>
          </a:xfrm>
          <a:prstGeom prst="rect">
            <a:avLst/>
          </a:prstGeom>
          <a:noFill/>
          <a:ln/>
        </p:spPr>
        <p:txBody>
          <a:bodyPr wrap="square" lIns="0" tIns="0" rIns="0" bIns="0" rtlCol="0" anchor="t"/>
          <a:lstStyle/>
          <a:p>
            <a:r>
              <a:rPr lang="en-US" sz="1400" dirty="0">
                <a:solidFill>
                  <a:srgbClr val="333333"/>
                </a:solidFill>
                <a:latin typeface="Calibri" pitchFamily="34" charset="0"/>
                <a:ea typeface="Calibri" pitchFamily="34" charset="-122"/>
                <a:cs typeface="Calibri" pitchFamily="34" charset="-120"/>
              </a:rPr>
              <a:t>Sensitivity to treatment date (2014 ceasefire vs. 2016)</a:t>
            </a:r>
            <a:endParaRPr lang="en-US" sz="1400" dirty="0"/>
          </a:p>
        </p:txBody>
      </p:sp>
      <p:sp>
        <p:nvSpPr>
          <p:cNvPr id="39" name="Shape 37"/>
          <p:cNvSpPr/>
          <p:nvPr/>
        </p:nvSpPr>
        <p:spPr>
          <a:xfrm>
            <a:off x="7953253" y="1155954"/>
            <a:ext cx="0" cy="4933071"/>
          </a:xfrm>
          <a:prstGeom prst="line">
            <a:avLst/>
          </a:prstGeom>
          <a:noFill/>
          <a:ln w="9525">
            <a:solidFill>
              <a:srgbClr val="DDDDDD"/>
            </a:solidFill>
            <a:prstDash val="solid"/>
          </a:ln>
        </p:spPr>
        <p:txBody>
          <a:bodyPr/>
          <a:lstStyle/>
          <a:p>
            <a:endParaRPr lang="es-CO" sz="2400"/>
          </a:p>
        </p:txBody>
      </p:sp>
      <p:sp>
        <p:nvSpPr>
          <p:cNvPr id="40" name="Text 38"/>
          <p:cNvSpPr/>
          <p:nvPr/>
        </p:nvSpPr>
        <p:spPr>
          <a:xfrm>
            <a:off x="8176773" y="1255776"/>
            <a:ext cx="2438400" cy="268224"/>
          </a:xfrm>
          <a:prstGeom prst="rect">
            <a:avLst/>
          </a:prstGeom>
          <a:noFill/>
          <a:ln/>
        </p:spPr>
        <p:txBody>
          <a:bodyPr wrap="square" lIns="0" tIns="0" rIns="0" bIns="0" rtlCol="0" anchor="ctr"/>
          <a:lstStyle/>
          <a:p>
            <a:r>
              <a:rPr lang="en-US" sz="2400" b="1" kern="0" spc="133" dirty="0">
                <a:solidFill>
                  <a:srgbClr val="888888"/>
                </a:solidFill>
                <a:latin typeface="Calibri" pitchFamily="34" charset="0"/>
                <a:ea typeface="Calibri" pitchFamily="34" charset="-122"/>
                <a:cs typeface="Calibri" pitchFamily="34" charset="-120"/>
              </a:rPr>
              <a:t>3</a:t>
            </a:r>
          </a:p>
        </p:txBody>
      </p:sp>
      <p:sp>
        <p:nvSpPr>
          <p:cNvPr id="41" name="Text 39"/>
          <p:cNvSpPr/>
          <p:nvPr/>
        </p:nvSpPr>
        <p:spPr>
          <a:xfrm>
            <a:off x="8611616" y="1403857"/>
            <a:ext cx="2808224" cy="633984"/>
          </a:xfrm>
          <a:prstGeom prst="rect">
            <a:avLst/>
          </a:prstGeom>
          <a:noFill/>
          <a:ln/>
        </p:spPr>
        <p:txBody>
          <a:bodyPr wrap="square" lIns="0" tIns="0" rIns="0" bIns="0" rtlCol="0" anchor="ctr"/>
          <a:lstStyle/>
          <a:p>
            <a:r>
              <a:rPr lang="en-US" sz="1733" b="1" dirty="0">
                <a:solidFill>
                  <a:srgbClr val="1A1A1A"/>
                </a:solidFill>
                <a:latin typeface="Calibri" pitchFamily="34" charset="0"/>
                <a:ea typeface="Calibri" pitchFamily="34" charset="-122"/>
                <a:cs typeface="Calibri" pitchFamily="34" charset="-120"/>
              </a:rPr>
              <a:t>Extensions</a:t>
            </a:r>
            <a:endParaRPr lang="en-US" sz="1733" dirty="0"/>
          </a:p>
        </p:txBody>
      </p:sp>
      <p:sp>
        <p:nvSpPr>
          <p:cNvPr id="42" name="Shape 40"/>
          <p:cNvSpPr/>
          <p:nvPr/>
        </p:nvSpPr>
        <p:spPr>
          <a:xfrm>
            <a:off x="8611616" y="2199387"/>
            <a:ext cx="2255520" cy="0"/>
          </a:xfrm>
          <a:prstGeom prst="line">
            <a:avLst/>
          </a:prstGeom>
          <a:noFill/>
          <a:ln w="9525">
            <a:solidFill>
              <a:srgbClr val="DDDDDD"/>
            </a:solidFill>
            <a:prstDash val="solid"/>
          </a:ln>
        </p:spPr>
        <p:txBody>
          <a:bodyPr/>
          <a:lstStyle/>
          <a:p>
            <a:endParaRPr lang="es-CO" sz="2400"/>
          </a:p>
        </p:txBody>
      </p:sp>
      <p:sp>
        <p:nvSpPr>
          <p:cNvPr id="43" name="Shape 41"/>
          <p:cNvSpPr/>
          <p:nvPr/>
        </p:nvSpPr>
        <p:spPr>
          <a:xfrm>
            <a:off x="8688837" y="2600705"/>
            <a:ext cx="121920" cy="121920"/>
          </a:xfrm>
          <a:prstGeom prst="ellipse">
            <a:avLst/>
          </a:prstGeom>
          <a:solidFill>
            <a:srgbClr val="1A1A1A"/>
          </a:solidFill>
          <a:ln w="12700">
            <a:solidFill>
              <a:srgbClr val="1A1A1A"/>
            </a:solidFill>
            <a:prstDash val="solid"/>
          </a:ln>
        </p:spPr>
        <p:txBody>
          <a:bodyPr/>
          <a:lstStyle/>
          <a:p>
            <a:endParaRPr lang="es-CO" sz="2400"/>
          </a:p>
        </p:txBody>
      </p:sp>
      <p:sp>
        <p:nvSpPr>
          <p:cNvPr id="44" name="Text 42"/>
          <p:cNvSpPr/>
          <p:nvPr/>
        </p:nvSpPr>
        <p:spPr>
          <a:xfrm>
            <a:off x="8932677" y="2454401"/>
            <a:ext cx="2218944" cy="755904"/>
          </a:xfrm>
          <a:prstGeom prst="rect">
            <a:avLst/>
          </a:prstGeom>
          <a:noFill/>
          <a:ln/>
        </p:spPr>
        <p:txBody>
          <a:bodyPr wrap="square" lIns="0" tIns="0" rIns="0" bIns="0" rtlCol="0" anchor="t"/>
          <a:lstStyle/>
          <a:p>
            <a:r>
              <a:rPr lang="en-US" sz="1400" dirty="0">
                <a:solidFill>
                  <a:srgbClr val="333333"/>
                </a:solidFill>
                <a:latin typeface="Calibri" pitchFamily="34" charset="0"/>
                <a:ea typeface="Calibri" pitchFamily="34" charset="-122"/>
                <a:cs typeface="Calibri" pitchFamily="34" charset="-120"/>
              </a:rPr>
              <a:t>Heterogeneity analysis by gender</a:t>
            </a:r>
            <a:endParaRPr lang="en-US" sz="1400" dirty="0"/>
          </a:p>
        </p:txBody>
      </p:sp>
      <p:sp>
        <p:nvSpPr>
          <p:cNvPr id="47" name="Shape 45"/>
          <p:cNvSpPr/>
          <p:nvPr/>
        </p:nvSpPr>
        <p:spPr>
          <a:xfrm>
            <a:off x="8688837" y="3473111"/>
            <a:ext cx="121920" cy="121920"/>
          </a:xfrm>
          <a:prstGeom prst="ellipse">
            <a:avLst/>
          </a:prstGeom>
          <a:solidFill>
            <a:srgbClr val="1A1A1A"/>
          </a:solidFill>
          <a:ln w="12700">
            <a:solidFill>
              <a:srgbClr val="1A1A1A"/>
            </a:solidFill>
            <a:prstDash val="solid"/>
          </a:ln>
        </p:spPr>
        <p:txBody>
          <a:bodyPr/>
          <a:lstStyle/>
          <a:p>
            <a:endParaRPr lang="es-CO" sz="2400"/>
          </a:p>
        </p:txBody>
      </p:sp>
      <p:sp>
        <p:nvSpPr>
          <p:cNvPr id="48" name="Text 46"/>
          <p:cNvSpPr/>
          <p:nvPr/>
        </p:nvSpPr>
        <p:spPr>
          <a:xfrm>
            <a:off x="8932677" y="3326807"/>
            <a:ext cx="2218944" cy="755904"/>
          </a:xfrm>
          <a:prstGeom prst="rect">
            <a:avLst/>
          </a:prstGeom>
          <a:noFill/>
          <a:ln/>
        </p:spPr>
        <p:txBody>
          <a:bodyPr wrap="square" lIns="0" tIns="0" rIns="0" bIns="0" rtlCol="0" anchor="t"/>
          <a:lstStyle/>
          <a:p>
            <a:r>
              <a:rPr lang="en-US" sz="1400" dirty="0">
                <a:solidFill>
                  <a:srgbClr val="333333"/>
                </a:solidFill>
                <a:latin typeface="Calibri" pitchFamily="34" charset="0"/>
                <a:ea typeface="Calibri" pitchFamily="34" charset="-122"/>
                <a:cs typeface="Calibri" pitchFamily="34" charset="-120"/>
              </a:rPr>
              <a:t>ELN and coca hectares as additional controls</a:t>
            </a:r>
            <a:endParaRPr lang="en-US" sz="1400" dirty="0"/>
          </a:p>
        </p:txBody>
      </p:sp>
      <p:sp>
        <p:nvSpPr>
          <p:cNvPr id="53" name="Text 11">
            <a:extLst>
              <a:ext uri="{FF2B5EF4-FFF2-40B4-BE49-F238E27FC236}">
                <a16:creationId xmlns:a16="http://schemas.microsoft.com/office/drawing/2014/main" id="{25C2D238-520B-1AEE-F03B-39C88225CF79}"/>
              </a:ext>
            </a:extLst>
          </p:cNvPr>
          <p:cNvSpPr/>
          <p:nvPr/>
        </p:nvSpPr>
        <p:spPr>
          <a:xfrm>
            <a:off x="365760" y="6321552"/>
            <a:ext cx="2255520" cy="414528"/>
          </a:xfrm>
          <a:prstGeom prst="rect">
            <a:avLst/>
          </a:prstGeom>
          <a:noFill/>
          <a:ln/>
        </p:spPr>
        <p:txBody>
          <a:bodyPr wrap="square" lIns="0" tIns="0" rIns="0" bIns="0" rtlCol="0" anchor="ctr"/>
          <a:lstStyle/>
          <a:p>
            <a:r>
              <a:rPr lang="en-US" sz="1133" dirty="0">
                <a:solidFill>
                  <a:schemeClr val="bg2">
                    <a:lumMod val="90000"/>
                  </a:schemeClr>
                </a:solidFill>
                <a:latin typeface="Calibri" pitchFamily="34" charset="0"/>
                <a:ea typeface="Calibri" pitchFamily="34" charset="-122"/>
                <a:cs typeface="Calibri" pitchFamily="34" charset="-120"/>
              </a:rPr>
              <a:t>1. Motivation</a:t>
            </a:r>
          </a:p>
        </p:txBody>
      </p:sp>
      <p:sp>
        <p:nvSpPr>
          <p:cNvPr id="54" name="Text 12">
            <a:extLst>
              <a:ext uri="{FF2B5EF4-FFF2-40B4-BE49-F238E27FC236}">
                <a16:creationId xmlns:a16="http://schemas.microsoft.com/office/drawing/2014/main" id="{17F9BB3F-AEB9-B03B-4D08-3448700DDC0C}"/>
              </a:ext>
            </a:extLst>
          </p:cNvPr>
          <p:cNvSpPr/>
          <p:nvPr/>
        </p:nvSpPr>
        <p:spPr>
          <a:xfrm>
            <a:off x="2657856" y="6321552"/>
            <a:ext cx="2255520" cy="414528"/>
          </a:xfrm>
          <a:prstGeom prst="rect">
            <a:avLst/>
          </a:prstGeom>
          <a:noFill/>
          <a:ln/>
        </p:spPr>
        <p:txBody>
          <a:bodyPr wrap="square" lIns="0" tIns="0" rIns="0" bIns="0" rtlCol="0" anchor="ctr"/>
          <a:lstStyle/>
          <a:p>
            <a:r>
              <a:rPr lang="en-US" sz="1133" dirty="0">
                <a:solidFill>
                  <a:schemeClr val="bg2">
                    <a:lumMod val="90000"/>
                  </a:schemeClr>
                </a:solidFill>
                <a:latin typeface="Calibri" pitchFamily="34" charset="0"/>
                <a:ea typeface="Calibri" pitchFamily="34" charset="-122"/>
                <a:cs typeface="Calibri" pitchFamily="34" charset="-120"/>
              </a:rPr>
              <a:t>2. Context</a:t>
            </a:r>
          </a:p>
        </p:txBody>
      </p:sp>
      <p:sp>
        <p:nvSpPr>
          <p:cNvPr id="55" name="Text 13">
            <a:extLst>
              <a:ext uri="{FF2B5EF4-FFF2-40B4-BE49-F238E27FC236}">
                <a16:creationId xmlns:a16="http://schemas.microsoft.com/office/drawing/2014/main" id="{64139B48-5973-51BE-2695-571DB19F4F03}"/>
              </a:ext>
            </a:extLst>
          </p:cNvPr>
          <p:cNvSpPr/>
          <p:nvPr/>
        </p:nvSpPr>
        <p:spPr>
          <a:xfrm>
            <a:off x="4949952" y="6321552"/>
            <a:ext cx="2255520" cy="414528"/>
          </a:xfrm>
          <a:prstGeom prst="rect">
            <a:avLst/>
          </a:prstGeom>
          <a:noFill/>
          <a:ln/>
        </p:spPr>
        <p:txBody>
          <a:bodyPr wrap="square" lIns="0" tIns="0" rIns="0" bIns="0" rtlCol="0" anchor="ctr"/>
          <a:lstStyle/>
          <a:p>
            <a:r>
              <a:rPr lang="en-US" sz="1133" dirty="0">
                <a:solidFill>
                  <a:schemeClr val="bg2">
                    <a:lumMod val="90000"/>
                  </a:schemeClr>
                </a:solidFill>
                <a:latin typeface="Calibri" pitchFamily="34" charset="0"/>
                <a:ea typeface="Calibri" pitchFamily="34" charset="-122"/>
                <a:cs typeface="Calibri" pitchFamily="34" charset="-120"/>
              </a:rPr>
              <a:t>3. Research Design</a:t>
            </a:r>
            <a:endParaRPr lang="en-US" sz="1133" dirty="0">
              <a:solidFill>
                <a:schemeClr val="bg2">
                  <a:lumMod val="90000"/>
                </a:schemeClr>
              </a:solidFill>
            </a:endParaRPr>
          </a:p>
        </p:txBody>
      </p:sp>
      <p:sp>
        <p:nvSpPr>
          <p:cNvPr id="56" name="Text 14">
            <a:extLst>
              <a:ext uri="{FF2B5EF4-FFF2-40B4-BE49-F238E27FC236}">
                <a16:creationId xmlns:a16="http://schemas.microsoft.com/office/drawing/2014/main" id="{0266EACD-67C9-522D-9EDE-9966F5EADC15}"/>
              </a:ext>
            </a:extLst>
          </p:cNvPr>
          <p:cNvSpPr/>
          <p:nvPr/>
        </p:nvSpPr>
        <p:spPr>
          <a:xfrm>
            <a:off x="7242048" y="6321552"/>
            <a:ext cx="2255520" cy="414528"/>
          </a:xfrm>
          <a:prstGeom prst="rect">
            <a:avLst/>
          </a:prstGeom>
          <a:noFill/>
          <a:ln/>
        </p:spPr>
        <p:txBody>
          <a:bodyPr wrap="square" lIns="0" tIns="0" rIns="0" bIns="0" rtlCol="0" anchor="ctr"/>
          <a:lstStyle/>
          <a:p>
            <a:r>
              <a:rPr lang="en-US" sz="1133" dirty="0">
                <a:solidFill>
                  <a:schemeClr val="bg2">
                    <a:lumMod val="90000"/>
                  </a:schemeClr>
                </a:solidFill>
                <a:latin typeface="Calibri" pitchFamily="34" charset="0"/>
                <a:ea typeface="Calibri" pitchFamily="34" charset="-122"/>
                <a:cs typeface="Calibri" pitchFamily="34" charset="-120"/>
              </a:rPr>
              <a:t>4. Challenges and Limitations</a:t>
            </a:r>
            <a:endParaRPr lang="en-US" sz="1133" dirty="0">
              <a:solidFill>
                <a:schemeClr val="bg2">
                  <a:lumMod val="90000"/>
                </a:schemeClr>
              </a:solidFill>
            </a:endParaRPr>
          </a:p>
        </p:txBody>
      </p:sp>
      <p:sp>
        <p:nvSpPr>
          <p:cNvPr id="57" name="Text 15">
            <a:extLst>
              <a:ext uri="{FF2B5EF4-FFF2-40B4-BE49-F238E27FC236}">
                <a16:creationId xmlns:a16="http://schemas.microsoft.com/office/drawing/2014/main" id="{7501356C-B694-A20D-7067-374D115D6D22}"/>
              </a:ext>
            </a:extLst>
          </p:cNvPr>
          <p:cNvSpPr/>
          <p:nvPr/>
        </p:nvSpPr>
        <p:spPr>
          <a:xfrm>
            <a:off x="9534144" y="6321552"/>
            <a:ext cx="2255520" cy="414528"/>
          </a:xfrm>
          <a:prstGeom prst="rect">
            <a:avLst/>
          </a:prstGeom>
          <a:noFill/>
          <a:ln/>
        </p:spPr>
        <p:txBody>
          <a:bodyPr wrap="square" lIns="0" tIns="0" rIns="0" bIns="0" rtlCol="0" anchor="ctr"/>
          <a:lstStyle/>
          <a:p>
            <a:r>
              <a:rPr lang="en-US" sz="1133" dirty="0">
                <a:solidFill>
                  <a:srgbClr val="00B0F0"/>
                </a:solidFill>
                <a:latin typeface="Calibri" pitchFamily="34" charset="0"/>
                <a:ea typeface="Calibri" pitchFamily="34" charset="-122"/>
                <a:cs typeface="Calibri" pitchFamily="34" charset="-120"/>
              </a:rPr>
              <a:t>5. Next Steps</a:t>
            </a:r>
            <a:endParaRPr lang="en-US" sz="1133" dirty="0">
              <a:solidFill>
                <a:srgbClr val="00B0F0"/>
              </a:solidFill>
            </a:endParaRPr>
          </a:p>
        </p:txBody>
      </p:sp>
      <p:sp>
        <p:nvSpPr>
          <p:cNvPr id="58" name="Shape 10">
            <a:extLst>
              <a:ext uri="{FF2B5EF4-FFF2-40B4-BE49-F238E27FC236}">
                <a16:creationId xmlns:a16="http://schemas.microsoft.com/office/drawing/2014/main" id="{64701AFC-C865-CA3D-E964-13EF38062573}"/>
              </a:ext>
            </a:extLst>
          </p:cNvPr>
          <p:cNvSpPr/>
          <p:nvPr/>
        </p:nvSpPr>
        <p:spPr>
          <a:xfrm>
            <a:off x="1020069" y="6264401"/>
            <a:ext cx="10850880" cy="0"/>
          </a:xfrm>
          <a:prstGeom prst="line">
            <a:avLst/>
          </a:prstGeom>
          <a:noFill/>
          <a:ln w="9525">
            <a:solidFill>
              <a:srgbClr val="DDDDDD"/>
            </a:solidFill>
            <a:prstDash val="solid"/>
          </a:ln>
        </p:spPr>
        <p:txBody>
          <a:bodyPr/>
          <a:lstStyle/>
          <a:p>
            <a:endParaRPr lang="es-CO" sz="2400"/>
          </a:p>
        </p:txBody>
      </p:sp>
      <p:sp>
        <p:nvSpPr>
          <p:cNvPr id="51" name="Shape 17">
            <a:extLst>
              <a:ext uri="{FF2B5EF4-FFF2-40B4-BE49-F238E27FC236}">
                <a16:creationId xmlns:a16="http://schemas.microsoft.com/office/drawing/2014/main" id="{EF9AD729-E9C2-79A2-0514-AF5417812E6F}"/>
              </a:ext>
            </a:extLst>
          </p:cNvPr>
          <p:cNvSpPr/>
          <p:nvPr/>
        </p:nvSpPr>
        <p:spPr>
          <a:xfrm>
            <a:off x="1414277" y="2684017"/>
            <a:ext cx="121920" cy="121920"/>
          </a:xfrm>
          <a:prstGeom prst="ellipse">
            <a:avLst/>
          </a:prstGeom>
          <a:solidFill>
            <a:srgbClr val="1A1A1A"/>
          </a:solidFill>
          <a:ln w="12700">
            <a:solidFill>
              <a:srgbClr val="1A1A1A"/>
            </a:solidFill>
            <a:prstDash val="solid"/>
          </a:ln>
        </p:spPr>
        <p:txBody>
          <a:bodyPr/>
          <a:lstStyle/>
          <a:p>
            <a:endParaRPr lang="es-CO" sz="2400"/>
          </a:p>
        </p:txBody>
      </p:sp>
      <p:sp>
        <p:nvSpPr>
          <p:cNvPr id="52" name="Text 18">
            <a:extLst>
              <a:ext uri="{FF2B5EF4-FFF2-40B4-BE49-F238E27FC236}">
                <a16:creationId xmlns:a16="http://schemas.microsoft.com/office/drawing/2014/main" id="{5E416589-DCC0-0781-AC0C-E3C00040F5B2}"/>
              </a:ext>
            </a:extLst>
          </p:cNvPr>
          <p:cNvSpPr/>
          <p:nvPr/>
        </p:nvSpPr>
        <p:spPr>
          <a:xfrm>
            <a:off x="1658117" y="2537713"/>
            <a:ext cx="2450591" cy="755904"/>
          </a:xfrm>
          <a:prstGeom prst="rect">
            <a:avLst/>
          </a:prstGeom>
          <a:noFill/>
          <a:ln/>
        </p:spPr>
        <p:txBody>
          <a:bodyPr wrap="square" lIns="0" tIns="0" rIns="0" bIns="0" rtlCol="0" anchor="t"/>
          <a:lstStyle/>
          <a:p>
            <a:r>
              <a:rPr lang="en-US" sz="1400" dirty="0">
                <a:solidFill>
                  <a:srgbClr val="333333"/>
                </a:solidFill>
                <a:latin typeface="Calibri" pitchFamily="34" charset="0"/>
                <a:ea typeface="Calibri" pitchFamily="34" charset="-122"/>
                <a:cs typeface="Calibri" pitchFamily="34" charset="-120"/>
              </a:rPr>
              <a:t>Construct FARC exposure measure at multiple thresholds</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AFC57721-B7AA-7F1E-EDCB-FFD89C0CD906}"/>
              </a:ext>
            </a:extLst>
          </p:cNvPr>
          <p:cNvSpPr/>
          <p:nvPr/>
        </p:nvSpPr>
        <p:spPr>
          <a:xfrm>
            <a:off x="851413" y="316992"/>
            <a:ext cx="10728960" cy="633984"/>
          </a:xfrm>
          <a:prstGeom prst="rect">
            <a:avLst/>
          </a:prstGeom>
          <a:noFill/>
          <a:ln/>
        </p:spPr>
        <p:txBody>
          <a:bodyPr wrap="square" lIns="0" tIns="0" rIns="0" bIns="0" rtlCol="0" anchor="ctr"/>
          <a:lstStyle/>
          <a:p>
            <a:r>
              <a:rPr lang="en-US" sz="3733" b="1" dirty="0">
                <a:solidFill>
                  <a:srgbClr val="002060"/>
                </a:solidFill>
                <a:latin typeface="Calibri" pitchFamily="34" charset="0"/>
                <a:ea typeface="Calibri" pitchFamily="34" charset="-122"/>
                <a:cs typeface="Calibri" pitchFamily="34" charset="-120"/>
              </a:rPr>
              <a:t>Capstone plan</a:t>
            </a:r>
            <a:endParaRPr lang="en-US" sz="3733" dirty="0">
              <a:solidFill>
                <a:srgbClr val="002060"/>
              </a:solidFill>
            </a:endParaRPr>
          </a:p>
        </p:txBody>
      </p:sp>
      <p:sp>
        <p:nvSpPr>
          <p:cNvPr id="3" name="Shape 1">
            <a:extLst>
              <a:ext uri="{FF2B5EF4-FFF2-40B4-BE49-F238E27FC236}">
                <a16:creationId xmlns:a16="http://schemas.microsoft.com/office/drawing/2014/main" id="{86008C0A-F337-81F0-813E-77D9F8257431}"/>
              </a:ext>
            </a:extLst>
          </p:cNvPr>
          <p:cNvSpPr/>
          <p:nvPr/>
        </p:nvSpPr>
        <p:spPr>
          <a:xfrm>
            <a:off x="670560" y="1024128"/>
            <a:ext cx="10850880" cy="0"/>
          </a:xfrm>
          <a:prstGeom prst="line">
            <a:avLst/>
          </a:prstGeom>
          <a:noFill/>
          <a:ln w="9525">
            <a:solidFill>
              <a:srgbClr val="DDDDDD"/>
            </a:solidFill>
            <a:prstDash val="solid"/>
          </a:ln>
        </p:spPr>
        <p:txBody>
          <a:bodyPr/>
          <a:lstStyle/>
          <a:p>
            <a:endParaRPr lang="es-CO" sz="2400"/>
          </a:p>
        </p:txBody>
      </p:sp>
      <p:sp>
        <p:nvSpPr>
          <p:cNvPr id="5" name="CuadroTexto 4">
            <a:extLst>
              <a:ext uri="{FF2B5EF4-FFF2-40B4-BE49-F238E27FC236}">
                <a16:creationId xmlns:a16="http://schemas.microsoft.com/office/drawing/2014/main" id="{CD239A82-0686-10CF-4B2C-D21B8169CF9A}"/>
              </a:ext>
            </a:extLst>
          </p:cNvPr>
          <p:cNvSpPr txBox="1"/>
          <p:nvPr/>
        </p:nvSpPr>
        <p:spPr>
          <a:xfrm>
            <a:off x="851413" y="1884516"/>
            <a:ext cx="3124259" cy="400110"/>
          </a:xfrm>
          <a:prstGeom prst="rect">
            <a:avLst/>
          </a:prstGeom>
          <a:noFill/>
        </p:spPr>
        <p:txBody>
          <a:bodyPr wrap="square">
            <a:spAutoFit/>
          </a:bodyPr>
          <a:lstStyle/>
          <a:p>
            <a:pPr algn="ctr"/>
            <a:r>
              <a:rPr lang="en-US" sz="2000" b="1" dirty="0">
                <a:solidFill>
                  <a:srgbClr val="1A1A1A"/>
                </a:solidFill>
                <a:latin typeface="Calibri" panose="020F0502020204030204" pitchFamily="34" charset="0"/>
                <a:ea typeface="Calibri" panose="020F0502020204030204" pitchFamily="34" charset="0"/>
                <a:cs typeface="Calibri" panose="020F0502020204030204" pitchFamily="34" charset="0"/>
              </a:rPr>
              <a:t>Data construction</a:t>
            </a:r>
          </a:p>
        </p:txBody>
      </p:sp>
      <p:sp>
        <p:nvSpPr>
          <p:cNvPr id="6" name="Text 6">
            <a:extLst>
              <a:ext uri="{FF2B5EF4-FFF2-40B4-BE49-F238E27FC236}">
                <a16:creationId xmlns:a16="http://schemas.microsoft.com/office/drawing/2014/main" id="{9EB7ADCA-B1E2-1BF8-7ACB-F9FB085EFA1F}"/>
              </a:ext>
            </a:extLst>
          </p:cNvPr>
          <p:cNvSpPr/>
          <p:nvPr/>
        </p:nvSpPr>
        <p:spPr>
          <a:xfrm>
            <a:off x="4274082" y="1855971"/>
            <a:ext cx="3738225" cy="457200"/>
          </a:xfrm>
          <a:prstGeom prst="rect">
            <a:avLst/>
          </a:prstGeom>
          <a:noFill/>
          <a:ln/>
        </p:spPr>
        <p:txBody>
          <a:bodyPr wrap="square" lIns="0" tIns="0" rIns="0" bIns="0" rtlCol="0" anchor="ctr"/>
          <a:lstStyle/>
          <a:p>
            <a:pPr marL="0" indent="0" algn="ctr">
              <a:buNone/>
            </a:pPr>
            <a:r>
              <a:rPr lang="en-US" sz="2000" b="1" dirty="0">
                <a:solidFill>
                  <a:srgbClr val="1A1A1A"/>
                </a:solidFill>
                <a:latin typeface="Calibri" panose="020F0502020204030204" pitchFamily="34" charset="0"/>
                <a:ea typeface="Calibri" panose="020F0502020204030204" pitchFamily="34" charset="0"/>
                <a:cs typeface="Calibri" panose="020F0502020204030204" pitchFamily="34" charset="0"/>
              </a:rPr>
              <a:t>Descriptives &amp; pre-trends</a:t>
            </a:r>
            <a:endParaRPr lang="en-US" sz="2000" dirty="0">
              <a:latin typeface="Calibri" panose="020F0502020204030204" pitchFamily="34" charset="0"/>
              <a:ea typeface="Calibri" panose="020F0502020204030204" pitchFamily="34" charset="0"/>
              <a:cs typeface="Calibri" panose="020F0502020204030204" pitchFamily="34" charset="0"/>
            </a:endParaRPr>
          </a:p>
        </p:txBody>
      </p:sp>
      <p:sp>
        <p:nvSpPr>
          <p:cNvPr id="7" name="Text 7">
            <a:extLst>
              <a:ext uri="{FF2B5EF4-FFF2-40B4-BE49-F238E27FC236}">
                <a16:creationId xmlns:a16="http://schemas.microsoft.com/office/drawing/2014/main" id="{322F002D-4EE9-7C25-D57E-4238D5DE0D67}"/>
              </a:ext>
            </a:extLst>
          </p:cNvPr>
          <p:cNvSpPr/>
          <p:nvPr/>
        </p:nvSpPr>
        <p:spPr>
          <a:xfrm>
            <a:off x="4500194" y="2404610"/>
            <a:ext cx="3191612" cy="2823823"/>
          </a:xfrm>
          <a:prstGeom prst="rect">
            <a:avLst/>
          </a:prstGeom>
          <a:noFill/>
          <a:ln/>
        </p:spPr>
        <p:txBody>
          <a:bodyPr wrap="square" lIns="0" tIns="0" rIns="0" bIns="0" rtlCol="0" anchor="ctr"/>
          <a:lstStyle/>
          <a:p>
            <a:pPr marL="342900" indent="-342900">
              <a:spcAft>
                <a:spcPts val="600"/>
              </a:spcAft>
              <a:buSzPct val="100000"/>
              <a:buChar char="•"/>
            </a:pPr>
            <a:r>
              <a:rPr lang="en-US" sz="1600" dirty="0">
                <a:solidFill>
                  <a:srgbClr val="3B3B3B"/>
                </a:solidFill>
                <a:latin typeface="Calibri" panose="020F0502020204030204" pitchFamily="34" charset="0"/>
                <a:ea typeface="Calibri" panose="020F0502020204030204" pitchFamily="34" charset="0"/>
                <a:cs typeface="Calibri" panose="020F0502020204030204" pitchFamily="34" charset="0"/>
              </a:rPr>
              <a:t>Treated vs. control map of municipalities</a:t>
            </a:r>
            <a:endParaRPr lang="en-US" sz="1600" dirty="0">
              <a:latin typeface="Calibri" panose="020F0502020204030204" pitchFamily="34" charset="0"/>
              <a:ea typeface="Calibri" panose="020F0502020204030204" pitchFamily="34" charset="0"/>
              <a:cs typeface="Calibri" panose="020F0502020204030204" pitchFamily="34" charset="0"/>
            </a:endParaRPr>
          </a:p>
          <a:p>
            <a:pPr marL="342900" indent="-342900">
              <a:spcAft>
                <a:spcPts val="600"/>
              </a:spcAft>
              <a:buSzPct val="100000"/>
              <a:buChar char="•"/>
            </a:pPr>
            <a:r>
              <a:rPr lang="en-US" sz="1600" dirty="0">
                <a:solidFill>
                  <a:srgbClr val="3B3B3B"/>
                </a:solidFill>
                <a:latin typeface="Calibri" panose="020F0502020204030204" pitchFamily="34" charset="0"/>
                <a:ea typeface="Calibri" panose="020F0502020204030204" pitchFamily="34" charset="0"/>
                <a:cs typeface="Calibri" panose="020F0502020204030204" pitchFamily="34" charset="0"/>
              </a:rPr>
              <a:t>Summary statistics by treatment group</a:t>
            </a:r>
            <a:endParaRPr lang="en-US" sz="1600" dirty="0">
              <a:latin typeface="Calibri" panose="020F0502020204030204" pitchFamily="34" charset="0"/>
              <a:ea typeface="Calibri" panose="020F0502020204030204" pitchFamily="34" charset="0"/>
              <a:cs typeface="Calibri" panose="020F0502020204030204" pitchFamily="34" charset="0"/>
            </a:endParaRPr>
          </a:p>
          <a:p>
            <a:pPr marL="342900" indent="-342900">
              <a:spcAft>
                <a:spcPts val="600"/>
              </a:spcAft>
              <a:buSzPct val="100000"/>
              <a:buChar char="•"/>
            </a:pPr>
            <a:r>
              <a:rPr lang="en-US" sz="1600" dirty="0">
                <a:solidFill>
                  <a:srgbClr val="3B3B3B"/>
                </a:solidFill>
                <a:latin typeface="Calibri" panose="020F0502020204030204" pitchFamily="34" charset="0"/>
                <a:ea typeface="Calibri" panose="020F0502020204030204" pitchFamily="34" charset="0"/>
                <a:cs typeface="Calibri" panose="020F0502020204030204" pitchFamily="34" charset="0"/>
              </a:rPr>
              <a:t>Raw time-series of transition rates by treatment group, 2011–2024</a:t>
            </a:r>
            <a:endParaRPr lang="en-US" sz="1600" dirty="0">
              <a:latin typeface="Calibri" panose="020F0502020204030204" pitchFamily="34" charset="0"/>
              <a:ea typeface="Calibri" panose="020F0502020204030204" pitchFamily="34" charset="0"/>
              <a:cs typeface="Calibri" panose="020F0502020204030204" pitchFamily="34" charset="0"/>
            </a:endParaRPr>
          </a:p>
          <a:p>
            <a:pPr marL="342900" indent="-342900">
              <a:spcAft>
                <a:spcPts val="600"/>
              </a:spcAft>
              <a:buSzPct val="100000"/>
              <a:buChar char="•"/>
            </a:pPr>
            <a:r>
              <a:rPr lang="en-US" sz="1600" dirty="0">
                <a:solidFill>
                  <a:srgbClr val="3B3B3B"/>
                </a:solidFill>
                <a:latin typeface="Calibri" panose="020F0502020204030204" pitchFamily="34" charset="0"/>
                <a:ea typeface="Calibri" panose="020F0502020204030204" pitchFamily="34" charset="0"/>
                <a:cs typeface="Calibri" panose="020F0502020204030204" pitchFamily="34" charset="0"/>
              </a:rPr>
              <a:t>Event-study plot — leads and lags around 2016 to test parallel trends assumption.</a:t>
            </a:r>
            <a:endParaRPr lang="en-US" sz="1600" dirty="0">
              <a:latin typeface="Calibri" panose="020F0502020204030204" pitchFamily="34" charset="0"/>
              <a:ea typeface="Calibri" panose="020F0502020204030204" pitchFamily="34" charset="0"/>
              <a:cs typeface="Calibri" panose="020F0502020204030204" pitchFamily="34" charset="0"/>
            </a:endParaRPr>
          </a:p>
        </p:txBody>
      </p:sp>
      <p:sp>
        <p:nvSpPr>
          <p:cNvPr id="8" name="Text 13">
            <a:extLst>
              <a:ext uri="{FF2B5EF4-FFF2-40B4-BE49-F238E27FC236}">
                <a16:creationId xmlns:a16="http://schemas.microsoft.com/office/drawing/2014/main" id="{D3339DC8-8F09-F1CB-9F57-30F06E3302EC}"/>
              </a:ext>
            </a:extLst>
          </p:cNvPr>
          <p:cNvSpPr/>
          <p:nvPr/>
        </p:nvSpPr>
        <p:spPr>
          <a:xfrm>
            <a:off x="8012307" y="1855971"/>
            <a:ext cx="3738225" cy="457200"/>
          </a:xfrm>
          <a:prstGeom prst="rect">
            <a:avLst/>
          </a:prstGeom>
          <a:noFill/>
          <a:ln/>
        </p:spPr>
        <p:txBody>
          <a:bodyPr wrap="square" lIns="0" tIns="0" rIns="0" bIns="0" rtlCol="0" anchor="ctr"/>
          <a:lstStyle/>
          <a:p>
            <a:pPr marL="0" indent="0" algn="ctr">
              <a:buNone/>
            </a:pPr>
            <a:r>
              <a:rPr lang="en-US" sz="2000" b="1" dirty="0">
                <a:solidFill>
                  <a:srgbClr val="1A1A1A"/>
                </a:solidFill>
                <a:latin typeface="Calibri" panose="020F0502020204030204" pitchFamily="34" charset="0"/>
                <a:ea typeface="Calibri" panose="020F0502020204030204" pitchFamily="34" charset="0"/>
                <a:cs typeface="Calibri" panose="020F0502020204030204" pitchFamily="34" charset="0"/>
              </a:rPr>
              <a:t>Main DiD estimation</a:t>
            </a:r>
            <a:endParaRPr lang="en-US" sz="2000" dirty="0">
              <a:latin typeface="Calibri" panose="020F0502020204030204" pitchFamily="34" charset="0"/>
              <a:ea typeface="Calibri" panose="020F0502020204030204" pitchFamily="34" charset="0"/>
              <a:cs typeface="Calibri" panose="020F0502020204030204" pitchFamily="34" charset="0"/>
            </a:endParaRPr>
          </a:p>
        </p:txBody>
      </p:sp>
      <p:sp>
        <p:nvSpPr>
          <p:cNvPr id="9" name="Text 14">
            <a:extLst>
              <a:ext uri="{FF2B5EF4-FFF2-40B4-BE49-F238E27FC236}">
                <a16:creationId xmlns:a16="http://schemas.microsoft.com/office/drawing/2014/main" id="{3467A01D-AB59-BB3E-9A66-C6E985EF20C3}"/>
              </a:ext>
            </a:extLst>
          </p:cNvPr>
          <p:cNvSpPr/>
          <p:nvPr/>
        </p:nvSpPr>
        <p:spPr>
          <a:xfrm>
            <a:off x="8194082" y="2404609"/>
            <a:ext cx="3386291" cy="2823823"/>
          </a:xfrm>
          <a:prstGeom prst="rect">
            <a:avLst/>
          </a:prstGeom>
          <a:noFill/>
          <a:ln/>
        </p:spPr>
        <p:txBody>
          <a:bodyPr wrap="square" lIns="0" tIns="0" rIns="0" bIns="0" rtlCol="0" anchor="ctr"/>
          <a:lstStyle/>
          <a:p>
            <a:pPr marL="342900" indent="-342900">
              <a:spcAft>
                <a:spcPts val="600"/>
              </a:spcAft>
              <a:buSzPct val="100000"/>
              <a:buChar char="•"/>
            </a:pPr>
            <a:r>
              <a:rPr lang="en-US" sz="1600" dirty="0">
                <a:solidFill>
                  <a:srgbClr val="3B3B3B"/>
                </a:solidFill>
                <a:latin typeface="Calibri" panose="020F0502020204030204" pitchFamily="34" charset="0"/>
                <a:ea typeface="Calibri" panose="020F0502020204030204" pitchFamily="34" charset="0"/>
                <a:cs typeface="Calibri" panose="020F0502020204030204" pitchFamily="34" charset="0"/>
              </a:rPr>
              <a:t>Two-way FE: municipality and year, SE clustered at municipality</a:t>
            </a:r>
            <a:endParaRPr lang="en-US" sz="1600" dirty="0">
              <a:latin typeface="Calibri" panose="020F0502020204030204" pitchFamily="34" charset="0"/>
              <a:ea typeface="Calibri" panose="020F0502020204030204" pitchFamily="34" charset="0"/>
              <a:cs typeface="Calibri" panose="020F0502020204030204" pitchFamily="34" charset="0"/>
            </a:endParaRPr>
          </a:p>
          <a:p>
            <a:pPr marL="342900" indent="-342900">
              <a:spcAft>
                <a:spcPts val="600"/>
              </a:spcAft>
              <a:buSzPct val="100000"/>
              <a:buChar char="•"/>
            </a:pPr>
            <a:r>
              <a:rPr lang="en-US" sz="1600" dirty="0">
                <a:solidFill>
                  <a:srgbClr val="3B3B3B"/>
                </a:solidFill>
                <a:latin typeface="Calibri" panose="020F0502020204030204" pitchFamily="34" charset="0"/>
                <a:ea typeface="Calibri" panose="020F0502020204030204" pitchFamily="34" charset="0"/>
                <a:cs typeface="Calibri" panose="020F0502020204030204" pitchFamily="34" charset="0"/>
              </a:rPr>
              <a:t>Three specs: outcome only / + controls / + specification with interaction between other armed conflict actors and treatment variable</a:t>
            </a:r>
          </a:p>
          <a:p>
            <a:pPr marL="342900" indent="-342900">
              <a:spcAft>
                <a:spcPts val="600"/>
              </a:spcAft>
              <a:buSzPct val="100000"/>
              <a:buChar char="•"/>
            </a:pPr>
            <a:endParaRPr lang="en-US" sz="1600" dirty="0">
              <a:latin typeface="Calibri" panose="020F0502020204030204" pitchFamily="34" charset="0"/>
              <a:ea typeface="Calibri" panose="020F0502020204030204" pitchFamily="34" charset="0"/>
              <a:cs typeface="Calibri" panose="020F0502020204030204" pitchFamily="34" charset="0"/>
            </a:endParaRPr>
          </a:p>
        </p:txBody>
      </p:sp>
      <p:sp>
        <p:nvSpPr>
          <p:cNvPr id="10" name="Text 7">
            <a:extLst>
              <a:ext uri="{FF2B5EF4-FFF2-40B4-BE49-F238E27FC236}">
                <a16:creationId xmlns:a16="http://schemas.microsoft.com/office/drawing/2014/main" id="{7787D3CA-14CA-B338-7927-D4E1679BB730}"/>
              </a:ext>
            </a:extLst>
          </p:cNvPr>
          <p:cNvSpPr/>
          <p:nvPr/>
        </p:nvSpPr>
        <p:spPr>
          <a:xfrm>
            <a:off x="670560" y="2404610"/>
            <a:ext cx="3403005" cy="2823823"/>
          </a:xfrm>
          <a:prstGeom prst="rect">
            <a:avLst/>
          </a:prstGeom>
          <a:noFill/>
          <a:ln/>
        </p:spPr>
        <p:txBody>
          <a:bodyPr wrap="square" lIns="0" tIns="0" rIns="0" bIns="0" rtlCol="0" anchor="ctr"/>
          <a:lstStyle/>
          <a:p>
            <a:pPr marL="342900" indent="-342900">
              <a:spcAft>
                <a:spcPts val="600"/>
              </a:spcAft>
              <a:buSzPct val="100000"/>
              <a:buChar char="•"/>
            </a:pPr>
            <a:r>
              <a:rPr lang="en-US" sz="1600" dirty="0">
                <a:solidFill>
                  <a:srgbClr val="3B3B3B"/>
                </a:solidFill>
                <a:latin typeface="Calibri" panose="020F0502020204030204" pitchFamily="34" charset="0"/>
                <a:ea typeface="Calibri" panose="020F0502020204030204" pitchFamily="34" charset="0"/>
                <a:cs typeface="Calibri" panose="020F0502020204030204" pitchFamily="34" charset="0"/>
              </a:rPr>
              <a:t>Armed conflict database </a:t>
            </a:r>
            <a:r>
              <a:rPr lang="en-US" sz="1600" b="1" dirty="0">
                <a:solidFill>
                  <a:srgbClr val="92D050"/>
                </a:solidFill>
                <a:latin typeface="Calibri" panose="020F0502020204030204" pitchFamily="34" charset="0"/>
                <a:ea typeface="Calibri" panose="020F0502020204030204" pitchFamily="34" charset="0"/>
                <a:cs typeface="Calibri" panose="020F0502020204030204" pitchFamily="34" charset="0"/>
              </a:rPr>
              <a:t>OK</a:t>
            </a:r>
            <a:endParaRPr lang="en-US" sz="1600" i="1" dirty="0">
              <a:latin typeface="Calibri" panose="020F0502020204030204" pitchFamily="34" charset="0"/>
              <a:ea typeface="Calibri" panose="020F0502020204030204" pitchFamily="34" charset="0"/>
              <a:cs typeface="Calibri" panose="020F0502020204030204" pitchFamily="34" charset="0"/>
            </a:endParaRPr>
          </a:p>
          <a:p>
            <a:pPr marL="800100" lvl="1" indent="-342900">
              <a:spcAft>
                <a:spcPts val="600"/>
              </a:spcAft>
              <a:buSzPct val="100000"/>
              <a:buChar char="•"/>
            </a:pPr>
            <a:r>
              <a:rPr lang="en-US" sz="1600" i="1" dirty="0">
                <a:latin typeface="Calibri" panose="020F0502020204030204" pitchFamily="34" charset="0"/>
                <a:ea typeface="Calibri" panose="020F0502020204030204" pitchFamily="34" charset="0"/>
                <a:cs typeface="Calibri" panose="020F0502020204030204" pitchFamily="34" charset="0"/>
              </a:rPr>
              <a:t>Treatment measure</a:t>
            </a:r>
          </a:p>
          <a:p>
            <a:pPr marL="342900" indent="-342900">
              <a:spcAft>
                <a:spcPts val="600"/>
              </a:spcAft>
              <a:buSzPct val="100000"/>
              <a:buChar char="•"/>
            </a:pPr>
            <a:r>
              <a:rPr lang="en-US" sz="1600" dirty="0">
                <a:solidFill>
                  <a:srgbClr val="3B3B3B"/>
                </a:solidFill>
                <a:latin typeface="Calibri" panose="020F0502020204030204" pitchFamily="34" charset="0"/>
                <a:ea typeface="Calibri" panose="020F0502020204030204" pitchFamily="34" charset="0"/>
                <a:cs typeface="Calibri" panose="020F0502020204030204" pitchFamily="34" charset="0"/>
              </a:rPr>
              <a:t>Higher education access measure per municipality. </a:t>
            </a:r>
            <a:r>
              <a:rPr lang="en-US" sz="1600" b="1" dirty="0">
                <a:solidFill>
                  <a:srgbClr val="92D050"/>
                </a:solidFill>
                <a:latin typeface="Calibri" panose="020F0502020204030204" pitchFamily="34" charset="0"/>
                <a:ea typeface="Calibri" panose="020F0502020204030204" pitchFamily="34" charset="0"/>
                <a:cs typeface="Calibri" panose="020F0502020204030204" pitchFamily="34" charset="0"/>
              </a:rPr>
              <a:t>Work in progress</a:t>
            </a:r>
            <a:endParaRPr lang="en-US" sz="1600" dirty="0">
              <a:latin typeface="Calibri" panose="020F0502020204030204" pitchFamily="34" charset="0"/>
              <a:ea typeface="Calibri" panose="020F0502020204030204" pitchFamily="34" charset="0"/>
              <a:cs typeface="Calibri" panose="020F0502020204030204" pitchFamily="34" charset="0"/>
            </a:endParaRPr>
          </a:p>
          <a:p>
            <a:pPr marL="342900" indent="-342900">
              <a:spcAft>
                <a:spcPts val="600"/>
              </a:spcAft>
              <a:buSzPct val="100000"/>
              <a:buChar char="•"/>
            </a:pPr>
            <a:r>
              <a:rPr lang="en-US" sz="1600" dirty="0">
                <a:solidFill>
                  <a:srgbClr val="3B3B3B"/>
                </a:solidFill>
                <a:latin typeface="Calibri" panose="020F0502020204030204" pitchFamily="34" charset="0"/>
                <a:ea typeface="Calibri" panose="020F0502020204030204" pitchFamily="34" charset="0"/>
                <a:cs typeface="Calibri" panose="020F0502020204030204" pitchFamily="34" charset="0"/>
              </a:rPr>
              <a:t>Control variables per municipality. </a:t>
            </a:r>
          </a:p>
          <a:p>
            <a:pPr marL="342900" indent="-342900">
              <a:spcAft>
                <a:spcPts val="600"/>
              </a:spcAft>
              <a:buSzPct val="100000"/>
              <a:buChar char="•"/>
            </a:pPr>
            <a:r>
              <a:rPr lang="en-US" sz="1600" dirty="0">
                <a:solidFill>
                  <a:srgbClr val="3B3B3B"/>
                </a:solidFill>
                <a:latin typeface="Calibri" panose="020F0502020204030204" pitchFamily="34" charset="0"/>
                <a:ea typeface="Calibri" panose="020F0502020204030204" pitchFamily="34" charset="0"/>
                <a:cs typeface="Calibri" panose="020F0502020204030204" pitchFamily="34" charset="0"/>
              </a:rPr>
              <a:t>Construct municipal panel 2011-2024</a:t>
            </a:r>
            <a:endParaRPr lang="en-US" sz="1600" dirty="0">
              <a:latin typeface="Calibri" panose="020F0502020204030204" pitchFamily="34" charset="0"/>
              <a:ea typeface="Calibri" panose="020F0502020204030204" pitchFamily="34" charset="0"/>
              <a:cs typeface="Calibri" panose="020F0502020204030204" pitchFamily="34" charset="0"/>
            </a:endParaRPr>
          </a:p>
        </p:txBody>
      </p:sp>
      <p:sp>
        <p:nvSpPr>
          <p:cNvPr id="11" name="Text 0">
            <a:extLst>
              <a:ext uri="{FF2B5EF4-FFF2-40B4-BE49-F238E27FC236}">
                <a16:creationId xmlns:a16="http://schemas.microsoft.com/office/drawing/2014/main" id="{145E1C86-3B9A-C31C-35D4-4AAFEE804DD6}"/>
              </a:ext>
            </a:extLst>
          </p:cNvPr>
          <p:cNvSpPr/>
          <p:nvPr/>
        </p:nvSpPr>
        <p:spPr>
          <a:xfrm>
            <a:off x="851413" y="995583"/>
            <a:ext cx="10728960" cy="633984"/>
          </a:xfrm>
          <a:prstGeom prst="rect">
            <a:avLst/>
          </a:prstGeom>
          <a:noFill/>
          <a:ln/>
        </p:spPr>
        <p:txBody>
          <a:bodyPr wrap="square" lIns="0" tIns="0" rIns="0" bIns="0" rtlCol="0" anchor="ctr"/>
          <a:lstStyle/>
          <a:p>
            <a:r>
              <a:rPr lang="en-US" sz="2000" b="1" dirty="0">
                <a:latin typeface="Calibri" pitchFamily="34" charset="0"/>
                <a:ea typeface="Calibri" pitchFamily="34" charset="-122"/>
                <a:cs typeface="Calibri" pitchFamily="34" charset="-120"/>
              </a:rPr>
              <a:t>Time: Mid may – Last week of June</a:t>
            </a:r>
            <a:endParaRPr lang="en-US" sz="2000" b="1" dirty="0"/>
          </a:p>
        </p:txBody>
      </p:sp>
      <p:sp>
        <p:nvSpPr>
          <p:cNvPr id="12" name="Text 0">
            <a:extLst>
              <a:ext uri="{FF2B5EF4-FFF2-40B4-BE49-F238E27FC236}">
                <a16:creationId xmlns:a16="http://schemas.microsoft.com/office/drawing/2014/main" id="{5BFAE32A-490F-FB2B-F31C-9A290D2ABF9E}"/>
              </a:ext>
            </a:extLst>
          </p:cNvPr>
          <p:cNvSpPr/>
          <p:nvPr/>
        </p:nvSpPr>
        <p:spPr>
          <a:xfrm>
            <a:off x="1021572" y="5228433"/>
            <a:ext cx="10728960" cy="633984"/>
          </a:xfrm>
          <a:prstGeom prst="rect">
            <a:avLst/>
          </a:prstGeom>
          <a:noFill/>
          <a:ln/>
        </p:spPr>
        <p:txBody>
          <a:bodyPr wrap="square" lIns="0" tIns="0" rIns="0" bIns="0" rtlCol="0" anchor="ctr"/>
          <a:lstStyle/>
          <a:p>
            <a:endParaRPr lang="en-US" sz="2000" dirty="0"/>
          </a:p>
        </p:txBody>
      </p:sp>
      <p:sp>
        <p:nvSpPr>
          <p:cNvPr id="13" name="Text 0">
            <a:extLst>
              <a:ext uri="{FF2B5EF4-FFF2-40B4-BE49-F238E27FC236}">
                <a16:creationId xmlns:a16="http://schemas.microsoft.com/office/drawing/2014/main" id="{DAE53592-98EE-AB3A-E266-08390B1A7768}"/>
              </a:ext>
            </a:extLst>
          </p:cNvPr>
          <p:cNvSpPr/>
          <p:nvPr/>
        </p:nvSpPr>
        <p:spPr>
          <a:xfrm>
            <a:off x="753520" y="5597765"/>
            <a:ext cx="3222152" cy="633984"/>
          </a:xfrm>
          <a:prstGeom prst="rect">
            <a:avLst/>
          </a:prstGeom>
          <a:solidFill>
            <a:schemeClr val="accent1">
              <a:lumMod val="60000"/>
              <a:lumOff val="40000"/>
            </a:schemeClr>
          </a:solidFill>
          <a:ln>
            <a:solidFill>
              <a:schemeClr val="accent1"/>
            </a:solidFill>
          </a:ln>
        </p:spPr>
        <p:txBody>
          <a:bodyPr wrap="square" lIns="0" tIns="0" rIns="0" bIns="0" rtlCol="0" anchor="ctr"/>
          <a:lstStyle/>
          <a:p>
            <a:pPr algn="ctr"/>
            <a:r>
              <a:rPr lang="en-US" sz="1600" b="1" dirty="0">
                <a:latin typeface="Calibri" pitchFamily="34" charset="0"/>
                <a:ea typeface="Calibri" pitchFamily="34" charset="-122"/>
                <a:cs typeface="Calibri" pitchFamily="34" charset="-120"/>
              </a:rPr>
              <a:t>2 weeks – First week of June</a:t>
            </a:r>
          </a:p>
          <a:p>
            <a:pPr algn="ctr"/>
            <a:r>
              <a:rPr lang="en-US" sz="1600" b="1" dirty="0">
                <a:latin typeface="Calibri" pitchFamily="34" charset="0"/>
                <a:ea typeface="Calibri" pitchFamily="34" charset="-122"/>
                <a:cs typeface="Calibri" pitchFamily="34" charset="-120"/>
              </a:rPr>
              <a:t>23</a:t>
            </a:r>
            <a:r>
              <a:rPr lang="en-US" sz="1600" b="1" baseline="30000" dirty="0">
                <a:latin typeface="Calibri" pitchFamily="34" charset="0"/>
                <a:ea typeface="Calibri" pitchFamily="34" charset="-122"/>
                <a:cs typeface="Calibri" pitchFamily="34" charset="-120"/>
              </a:rPr>
              <a:t>rd</a:t>
            </a:r>
            <a:r>
              <a:rPr lang="en-US" sz="1600" b="1" dirty="0">
                <a:latin typeface="Calibri" pitchFamily="34" charset="0"/>
                <a:ea typeface="Calibri" pitchFamily="34" charset="-122"/>
                <a:cs typeface="Calibri" pitchFamily="34" charset="-120"/>
              </a:rPr>
              <a:t> may – 6</a:t>
            </a:r>
            <a:r>
              <a:rPr lang="en-US" sz="1600" b="1" baseline="30000" dirty="0">
                <a:latin typeface="Calibri" pitchFamily="34" charset="0"/>
                <a:ea typeface="Calibri" pitchFamily="34" charset="-122"/>
                <a:cs typeface="Calibri" pitchFamily="34" charset="-120"/>
              </a:rPr>
              <a:t>th</a:t>
            </a:r>
            <a:r>
              <a:rPr lang="en-US" sz="1600" b="1" dirty="0">
                <a:latin typeface="Calibri" pitchFamily="34" charset="0"/>
                <a:ea typeface="Calibri" pitchFamily="34" charset="-122"/>
                <a:cs typeface="Calibri" pitchFamily="34" charset="-120"/>
              </a:rPr>
              <a:t>  June</a:t>
            </a:r>
            <a:endParaRPr lang="en-US" sz="1600" b="1" dirty="0"/>
          </a:p>
        </p:txBody>
      </p:sp>
      <p:sp>
        <p:nvSpPr>
          <p:cNvPr id="15" name="CuadroTexto 14">
            <a:extLst>
              <a:ext uri="{FF2B5EF4-FFF2-40B4-BE49-F238E27FC236}">
                <a16:creationId xmlns:a16="http://schemas.microsoft.com/office/drawing/2014/main" id="{A6FCF6A1-1C63-82FF-C258-8AE9A041DC4A}"/>
              </a:ext>
            </a:extLst>
          </p:cNvPr>
          <p:cNvSpPr txBox="1"/>
          <p:nvPr/>
        </p:nvSpPr>
        <p:spPr>
          <a:xfrm>
            <a:off x="851413" y="5108449"/>
            <a:ext cx="6096000" cy="369332"/>
          </a:xfrm>
          <a:prstGeom prst="rect">
            <a:avLst/>
          </a:prstGeom>
          <a:noFill/>
        </p:spPr>
        <p:txBody>
          <a:bodyPr wrap="square">
            <a:spAutoFit/>
          </a:bodyPr>
          <a:lstStyle/>
          <a:p>
            <a:r>
              <a:rPr lang="en-US" sz="1800" b="1" dirty="0">
                <a:latin typeface="Calibri" pitchFamily="34" charset="0"/>
                <a:ea typeface="Calibri" pitchFamily="34" charset="-122"/>
                <a:cs typeface="Calibri" pitchFamily="34" charset="-120"/>
              </a:rPr>
              <a:t>It will be ready by: </a:t>
            </a:r>
            <a:endParaRPr lang="en-US" sz="1800" b="1" dirty="0"/>
          </a:p>
        </p:txBody>
      </p:sp>
      <p:sp>
        <p:nvSpPr>
          <p:cNvPr id="16" name="Text 0">
            <a:extLst>
              <a:ext uri="{FF2B5EF4-FFF2-40B4-BE49-F238E27FC236}">
                <a16:creationId xmlns:a16="http://schemas.microsoft.com/office/drawing/2014/main" id="{24DE7653-2851-5FCA-9F30-F81F263332F3}"/>
              </a:ext>
            </a:extLst>
          </p:cNvPr>
          <p:cNvSpPr/>
          <p:nvPr/>
        </p:nvSpPr>
        <p:spPr>
          <a:xfrm>
            <a:off x="4604817" y="5597765"/>
            <a:ext cx="3222152" cy="633984"/>
          </a:xfrm>
          <a:prstGeom prst="rect">
            <a:avLst/>
          </a:prstGeom>
          <a:solidFill>
            <a:schemeClr val="accent1">
              <a:lumMod val="60000"/>
              <a:lumOff val="40000"/>
            </a:schemeClr>
          </a:solidFill>
          <a:ln>
            <a:solidFill>
              <a:schemeClr val="accent1"/>
            </a:solidFill>
          </a:ln>
        </p:spPr>
        <p:txBody>
          <a:bodyPr wrap="square" lIns="0" tIns="0" rIns="0" bIns="0" rtlCol="0" anchor="ctr"/>
          <a:lstStyle/>
          <a:p>
            <a:pPr algn="ctr"/>
            <a:r>
              <a:rPr lang="en-US" sz="1600" b="1" dirty="0">
                <a:latin typeface="Calibri" pitchFamily="34" charset="0"/>
                <a:ea typeface="Calibri" pitchFamily="34" charset="-122"/>
                <a:cs typeface="Calibri" pitchFamily="34" charset="-120"/>
              </a:rPr>
              <a:t>1 week– Second week of June</a:t>
            </a:r>
          </a:p>
          <a:p>
            <a:pPr algn="ctr"/>
            <a:r>
              <a:rPr lang="en-US" sz="1600" b="1" dirty="0">
                <a:latin typeface="Calibri" pitchFamily="34" charset="0"/>
                <a:ea typeface="Calibri" pitchFamily="34" charset="-122"/>
                <a:cs typeface="Calibri" pitchFamily="34" charset="-120"/>
              </a:rPr>
              <a:t>7</a:t>
            </a:r>
            <a:r>
              <a:rPr lang="en-US" sz="1600" b="1" baseline="30000" dirty="0">
                <a:latin typeface="Calibri" pitchFamily="34" charset="0"/>
                <a:ea typeface="Calibri" pitchFamily="34" charset="-122"/>
                <a:cs typeface="Calibri" pitchFamily="34" charset="-120"/>
              </a:rPr>
              <a:t>th</a:t>
            </a:r>
            <a:r>
              <a:rPr lang="en-US" sz="1600" b="1" dirty="0">
                <a:latin typeface="Calibri" pitchFamily="34" charset="0"/>
                <a:ea typeface="Calibri" pitchFamily="34" charset="-122"/>
                <a:cs typeface="Calibri" pitchFamily="34" charset="-120"/>
              </a:rPr>
              <a:t>  -13</a:t>
            </a:r>
            <a:r>
              <a:rPr lang="en-US" sz="1600" b="1" baseline="30000" dirty="0">
                <a:latin typeface="Calibri" pitchFamily="34" charset="0"/>
                <a:ea typeface="Calibri" pitchFamily="34" charset="-122"/>
                <a:cs typeface="Calibri" pitchFamily="34" charset="-120"/>
              </a:rPr>
              <a:t>th</a:t>
            </a:r>
            <a:r>
              <a:rPr lang="en-US" sz="1600" b="1" dirty="0">
                <a:latin typeface="Calibri" pitchFamily="34" charset="0"/>
                <a:ea typeface="Calibri" pitchFamily="34" charset="-122"/>
                <a:cs typeface="Calibri" pitchFamily="34" charset="-120"/>
              </a:rPr>
              <a:t>  June </a:t>
            </a:r>
            <a:endParaRPr lang="en-US" sz="1600" b="1" dirty="0"/>
          </a:p>
        </p:txBody>
      </p:sp>
      <p:sp>
        <p:nvSpPr>
          <p:cNvPr id="17" name="Text 0">
            <a:extLst>
              <a:ext uri="{FF2B5EF4-FFF2-40B4-BE49-F238E27FC236}">
                <a16:creationId xmlns:a16="http://schemas.microsoft.com/office/drawing/2014/main" id="{4BD593FE-4FA3-61AE-74CB-5E865CDB4883}"/>
              </a:ext>
            </a:extLst>
          </p:cNvPr>
          <p:cNvSpPr/>
          <p:nvPr/>
        </p:nvSpPr>
        <p:spPr>
          <a:xfrm>
            <a:off x="8358221" y="5597765"/>
            <a:ext cx="3222152" cy="633984"/>
          </a:xfrm>
          <a:prstGeom prst="rect">
            <a:avLst/>
          </a:prstGeom>
          <a:solidFill>
            <a:schemeClr val="accent1">
              <a:lumMod val="60000"/>
              <a:lumOff val="40000"/>
            </a:schemeClr>
          </a:solidFill>
          <a:ln>
            <a:solidFill>
              <a:schemeClr val="accent1"/>
            </a:solidFill>
          </a:ln>
        </p:spPr>
        <p:txBody>
          <a:bodyPr wrap="square" lIns="0" tIns="0" rIns="0" bIns="0" rtlCol="0" anchor="ctr"/>
          <a:lstStyle/>
          <a:p>
            <a:pPr algn="ctr"/>
            <a:r>
              <a:rPr lang="en-US" sz="1600" b="1" dirty="0">
                <a:latin typeface="Calibri" pitchFamily="34" charset="0"/>
                <a:ea typeface="Calibri" pitchFamily="34" charset="-122"/>
                <a:cs typeface="Calibri" pitchFamily="34" charset="-120"/>
              </a:rPr>
              <a:t>2 weeks – Third and fourth weeks of June  : 14</a:t>
            </a:r>
            <a:r>
              <a:rPr lang="en-US" sz="1600" b="1" baseline="30000" dirty="0">
                <a:latin typeface="Calibri" pitchFamily="34" charset="0"/>
                <a:ea typeface="Calibri" pitchFamily="34" charset="-122"/>
                <a:cs typeface="Calibri" pitchFamily="34" charset="-120"/>
              </a:rPr>
              <a:t>th</a:t>
            </a:r>
            <a:r>
              <a:rPr lang="en-US" sz="1600" b="1" dirty="0">
                <a:latin typeface="Calibri" pitchFamily="34" charset="0"/>
                <a:ea typeface="Calibri" pitchFamily="34" charset="-122"/>
                <a:cs typeface="Calibri" pitchFamily="34" charset="-120"/>
              </a:rPr>
              <a:t> -27</a:t>
            </a:r>
            <a:r>
              <a:rPr lang="en-US" sz="1600" b="1" baseline="30000" dirty="0">
                <a:latin typeface="Calibri" pitchFamily="34" charset="0"/>
                <a:ea typeface="Calibri" pitchFamily="34" charset="-122"/>
                <a:cs typeface="Calibri" pitchFamily="34" charset="-120"/>
              </a:rPr>
              <a:t>th</a:t>
            </a:r>
            <a:r>
              <a:rPr lang="en-US" sz="1600" b="1" dirty="0">
                <a:latin typeface="Calibri" pitchFamily="34" charset="0"/>
                <a:ea typeface="Calibri" pitchFamily="34" charset="-122"/>
                <a:cs typeface="Calibri" pitchFamily="34" charset="-120"/>
              </a:rPr>
              <a:t> </a:t>
            </a:r>
            <a:endParaRPr lang="en-US" sz="1600" b="1" dirty="0"/>
          </a:p>
        </p:txBody>
      </p:sp>
    </p:spTree>
    <p:extLst>
      <p:ext uri="{BB962C8B-B14F-4D97-AF65-F5344CB8AC3E}">
        <p14:creationId xmlns:p14="http://schemas.microsoft.com/office/powerpoint/2010/main" val="150674028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Integral</Template>
  <TotalTime>253</TotalTime>
  <Words>1260</Words>
  <Application>Microsoft Office PowerPoint</Application>
  <PresentationFormat>Panorámica</PresentationFormat>
  <Paragraphs>177</Paragraphs>
  <Slides>8</Slides>
  <Notes>7</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8</vt:i4>
      </vt:variant>
    </vt:vector>
  </HeadingPairs>
  <TitlesOfParts>
    <vt:vector size="15" baseType="lpstr">
      <vt:lpstr>Aptos</vt:lpstr>
      <vt:lpstr>Arial</vt:lpstr>
      <vt:lpstr>Calibri</vt:lpstr>
      <vt:lpstr>Tw Cen MT</vt:lpstr>
      <vt:lpstr>Tw Cen MT Condensed</vt:lpstr>
      <vt:lpstr>Wingdings 3</vt:lpstr>
      <vt:lpstr>Integral</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Aragon-Acevedo,J (pgt)</dc:creator>
  <cp:lastModifiedBy>Aragon-Acevedo,J (pgt)</cp:lastModifiedBy>
  <cp:revision>8</cp:revision>
  <dcterms:created xsi:type="dcterms:W3CDTF">2026-05-07T18:35:40Z</dcterms:created>
  <dcterms:modified xsi:type="dcterms:W3CDTF">2026-06-14T14:14:53Z</dcterms:modified>
</cp:coreProperties>
</file>