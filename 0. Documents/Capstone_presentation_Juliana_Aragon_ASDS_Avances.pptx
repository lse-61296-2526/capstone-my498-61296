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8"/>
  </p:notesMasterIdLst>
  <p:sldIdLst>
    <p:sldId id="263" r:id="rId2"/>
    <p:sldId id="266" r:id="rId3"/>
    <p:sldId id="264" r:id="rId4"/>
    <p:sldId id="267" r:id="rId5"/>
    <p:sldId id="268" r:id="rId6"/>
    <p:sldId id="26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379" autoAdjust="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98685A-E687-4E56-8CF8-9BF1ADC64274}" type="datetimeFigureOut">
              <a:rPr lang="es-CO" smtClean="0"/>
              <a:t>30/06/2026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3DE30B-B54C-4AA8-8B35-6A9ABD1CCB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2484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4B23577A-C908-4E33-8098-14F046B6A130}" type="datetimeFigureOut">
              <a:rPr lang="es-CO" smtClean="0"/>
              <a:t>30/06/2026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FC6F-5320-48D2-B95C-F88F3308DCD5}" type="slidenum">
              <a:rPr lang="es-CO" smtClean="0"/>
              <a:t>‹Nº›</a:t>
            </a:fld>
            <a:endParaRPr lang="es-CO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9818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3577A-C908-4E33-8098-14F046B6A130}" type="datetimeFigureOut">
              <a:rPr lang="es-CO" smtClean="0"/>
              <a:t>30/06/2026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FC6F-5320-48D2-B95C-F88F3308DC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62000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3577A-C908-4E33-8098-14F046B6A130}" type="datetimeFigureOut">
              <a:rPr lang="es-CO" smtClean="0"/>
              <a:t>30/06/2026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FC6F-5320-48D2-B95C-F88F3308DCD5}" type="slidenum">
              <a:rPr lang="es-CO" smtClean="0"/>
              <a:t>‹Nº›</a:t>
            </a:fld>
            <a:endParaRPr lang="es-CO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8423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3577A-C908-4E33-8098-14F046B6A130}" type="datetimeFigureOut">
              <a:rPr lang="es-CO" smtClean="0"/>
              <a:t>30/06/2026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FC6F-5320-48D2-B95C-F88F3308DC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7398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3577A-C908-4E33-8098-14F046B6A130}" type="datetimeFigureOut">
              <a:rPr lang="es-CO" smtClean="0"/>
              <a:t>30/06/2026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FC6F-5320-48D2-B95C-F88F3308DC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91260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3577A-C908-4E33-8098-14F046B6A130}" type="datetimeFigureOut">
              <a:rPr lang="es-CO" smtClean="0"/>
              <a:t>30/06/2026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FC6F-5320-48D2-B95C-F88F3308DC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67921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3577A-C908-4E33-8098-14F046B6A130}" type="datetimeFigureOut">
              <a:rPr lang="es-CO" smtClean="0"/>
              <a:t>30/06/2026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FC6F-5320-48D2-B95C-F88F3308DC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33482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3577A-C908-4E33-8098-14F046B6A130}" type="datetimeFigureOut">
              <a:rPr lang="es-CO" smtClean="0"/>
              <a:t>30/06/2026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FC6F-5320-48D2-B95C-F88F3308DC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45478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3577A-C908-4E33-8098-14F046B6A130}" type="datetimeFigureOut">
              <a:rPr lang="es-CO" smtClean="0"/>
              <a:t>30/06/2026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FC6F-5320-48D2-B95C-F88F3308DCD5}" type="slidenum">
              <a:rPr lang="es-CO" smtClean="0"/>
              <a:t>‹Nº›</a:t>
            </a:fld>
            <a:endParaRPr lang="es-CO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4945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3577A-C908-4E33-8098-14F046B6A130}" type="datetimeFigureOut">
              <a:rPr lang="es-CO" smtClean="0"/>
              <a:t>30/06/2026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FC6F-5320-48D2-B95C-F88F3308DCD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81249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3577A-C908-4E33-8098-14F046B6A130}" type="datetimeFigureOut">
              <a:rPr lang="es-CO" smtClean="0"/>
              <a:t>30/06/2026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AFC6F-5320-48D2-B95C-F88F3308DCD5}" type="slidenum">
              <a:rPr lang="es-CO" smtClean="0"/>
              <a:t>‹Nº›</a:t>
            </a:fld>
            <a:endParaRPr lang="es-CO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2284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3761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B23577A-C908-4E33-8098-14F046B6A130}" type="datetimeFigureOut">
              <a:rPr lang="es-CO" smtClean="0"/>
              <a:t>30/06/2026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B9AFC6F-5320-48D2-B95C-F88F3308DCD5}" type="slidenum">
              <a:rPr lang="es-CO" smtClean="0"/>
              <a:t>‹Nº›</a:t>
            </a:fld>
            <a:endParaRPr lang="es-CO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4736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9376" y="308813"/>
            <a:ext cx="1072896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3733" dirty="0">
              <a:solidFill>
                <a:srgbClr val="00206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670560" y="1024128"/>
            <a:ext cx="108508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15" name="Text 13"/>
          <p:cNvSpPr/>
          <p:nvPr/>
        </p:nvSpPr>
        <p:spPr>
          <a:xfrm>
            <a:off x="910336" y="1101821"/>
            <a:ext cx="5303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733" dirty="0"/>
          </a:p>
        </p:txBody>
      </p:sp>
      <p:sp>
        <p:nvSpPr>
          <p:cNvPr id="16" name="Text 14"/>
          <p:cNvSpPr/>
          <p:nvPr/>
        </p:nvSpPr>
        <p:spPr>
          <a:xfrm>
            <a:off x="910336" y="1419531"/>
            <a:ext cx="10611102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ICFES – NATIONAL MINISTRY OF EDUCATION  2011-2023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0337" y="1687756"/>
            <a:ext cx="5185664" cy="630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rate to higher education: proportion of secondary graduates in each municipality who enroll in a HE (technical, technological, or university) the following year. </a:t>
            </a:r>
          </a:p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Annual, municipal level, based on individual data.</a:t>
            </a:r>
            <a:endParaRPr lang="en-US" sz="1333" dirty="0"/>
          </a:p>
        </p:txBody>
      </p:sp>
      <p:sp>
        <p:nvSpPr>
          <p:cNvPr id="18" name="Shape 16"/>
          <p:cNvSpPr/>
          <p:nvPr/>
        </p:nvSpPr>
        <p:spPr>
          <a:xfrm>
            <a:off x="910336" y="2625558"/>
            <a:ext cx="10611102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19" name="Text 17"/>
          <p:cNvSpPr/>
          <p:nvPr/>
        </p:nvSpPr>
        <p:spPr>
          <a:xfrm>
            <a:off x="929016" y="2766665"/>
            <a:ext cx="1085494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</a:t>
            </a:r>
            <a:endParaRPr lang="en-US" sz="1733" dirty="0"/>
          </a:p>
        </p:txBody>
      </p:sp>
      <p:sp>
        <p:nvSpPr>
          <p:cNvPr id="20" name="Text 18"/>
          <p:cNvSpPr/>
          <p:nvPr/>
        </p:nvSpPr>
        <p:spPr>
          <a:xfrm>
            <a:off x="898536" y="3125367"/>
            <a:ext cx="1085494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CENTER OF HISTORICAL MEMORY – CNMH 2011 - 2023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8536" y="3416650"/>
            <a:ext cx="5197464" cy="980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FARC-related violent events per municipality.</a:t>
            </a:r>
          </a:p>
          <a:p>
            <a:r>
              <a:rPr lang="en-GB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Selective murders, massacres, attacks on settlements, terrorist acts, sexual violence, kidnappings, antipersonnel mines, forced displacement, property damage, war actions.</a:t>
            </a:r>
          </a:p>
          <a:p>
            <a:r>
              <a:rPr lang="en-US" sz="13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</p:txBody>
      </p:sp>
      <p:sp>
        <p:nvSpPr>
          <p:cNvPr id="22" name="Shape 20"/>
          <p:cNvSpPr/>
          <p:nvPr/>
        </p:nvSpPr>
        <p:spPr>
          <a:xfrm>
            <a:off x="893847" y="4379553"/>
            <a:ext cx="10676751" cy="32281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23" name="Text 21"/>
          <p:cNvSpPr/>
          <p:nvPr/>
        </p:nvSpPr>
        <p:spPr>
          <a:xfrm>
            <a:off x="929016" y="4479620"/>
            <a:ext cx="5303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1733" dirty="0"/>
          </a:p>
        </p:txBody>
      </p:sp>
      <p:sp>
        <p:nvSpPr>
          <p:cNvPr id="25" name="Text 23"/>
          <p:cNvSpPr/>
          <p:nvPr/>
        </p:nvSpPr>
        <p:spPr>
          <a:xfrm>
            <a:off x="929016" y="5233265"/>
            <a:ext cx="5166984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33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income, national transfers, public expenditure, and hectares under coca cultivation.</a:t>
            </a:r>
          </a:p>
        </p:txBody>
      </p:sp>
      <p:sp>
        <p:nvSpPr>
          <p:cNvPr id="26" name="Text 24"/>
          <p:cNvSpPr/>
          <p:nvPr/>
        </p:nvSpPr>
        <p:spPr>
          <a:xfrm>
            <a:off x="2733823" y="462827"/>
            <a:ext cx="1085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FC6B0D40-63A9-7A6B-7D6A-DA24F43077A3}"/>
              </a:ext>
            </a:extLst>
          </p:cNvPr>
          <p:cNvSpPr/>
          <p:nvPr/>
        </p:nvSpPr>
        <p:spPr>
          <a:xfrm>
            <a:off x="670560" y="6248400"/>
            <a:ext cx="108508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B1E74B67-BD76-E1EA-37C1-0D4392247C54}"/>
              </a:ext>
            </a:extLst>
          </p:cNvPr>
          <p:cNvSpPr/>
          <p:nvPr/>
        </p:nvSpPr>
        <p:spPr>
          <a:xfrm>
            <a:off x="929016" y="4888782"/>
            <a:ext cx="53035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DATA – NATIONAL DEPARTMENT OFFICE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022C1-0ABE-3E2B-31FE-A8EA81B79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2A38A5D-ED21-80BA-D40A-181BC974CB48}"/>
              </a:ext>
            </a:extLst>
          </p:cNvPr>
          <p:cNvSpPr/>
          <p:nvPr/>
        </p:nvSpPr>
        <p:spPr>
          <a:xfrm>
            <a:off x="849376" y="308813"/>
            <a:ext cx="1072896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definition </a:t>
            </a:r>
            <a:endParaRPr lang="en-US" sz="3733" dirty="0">
              <a:solidFill>
                <a:srgbClr val="002060"/>
              </a:solidFill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CF76A4B9-965D-9C7B-5B09-4020C51AC02C}"/>
              </a:ext>
            </a:extLst>
          </p:cNvPr>
          <p:cNvSpPr/>
          <p:nvPr/>
        </p:nvSpPr>
        <p:spPr>
          <a:xfrm>
            <a:off x="670560" y="1024128"/>
            <a:ext cx="108508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F689195-6F5D-2D08-7828-A9D1CE6983DB}"/>
              </a:ext>
            </a:extLst>
          </p:cNvPr>
          <p:cNvSpPr txBox="1"/>
          <p:nvPr/>
        </p:nvSpPr>
        <p:spPr>
          <a:xfrm>
            <a:off x="788416" y="1006037"/>
            <a:ext cx="1085088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to identify municipalities with FARC exposure?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events = Selective murders, Massacres, Attacks on settlements, Terrorist acts, Sexual violence, Kidnappings, Antipersonnel mines, Forced displacement, Damage to property, War actions 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Ceasefire Dec 2014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Peace agreement Nov 2016</a:t>
            </a:r>
            <a:endParaRPr lang="es-CO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s-CO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s-CO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62CAD3D-A0EF-A7BD-BB18-5E1DA115D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48" y="3095180"/>
            <a:ext cx="11191608" cy="1050178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4DDBF537-918C-5A1A-841A-9447E05C2C07}"/>
              </a:ext>
            </a:extLst>
          </p:cNvPr>
          <p:cNvSpPr/>
          <p:nvPr/>
        </p:nvSpPr>
        <p:spPr>
          <a:xfrm>
            <a:off x="491744" y="3847636"/>
            <a:ext cx="11208512" cy="278058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1B31AA7B-9E24-2AF7-5AD2-3D7ECB3647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368342"/>
              </p:ext>
            </p:extLst>
          </p:nvPr>
        </p:nvGraphicFramePr>
        <p:xfrm>
          <a:off x="491744" y="4318489"/>
          <a:ext cx="6762626" cy="2141251"/>
        </p:xfrm>
        <a:graphic>
          <a:graphicData uri="http://schemas.openxmlformats.org/drawingml/2006/table">
            <a:tbl>
              <a:tblPr/>
              <a:tblGrid>
                <a:gridCol w="1056128">
                  <a:extLst>
                    <a:ext uri="{9D8B030D-6E8A-4147-A177-3AD203B41FA5}">
                      <a16:colId xmlns:a16="http://schemas.microsoft.com/office/drawing/2014/main" val="2237262395"/>
                    </a:ext>
                  </a:extLst>
                </a:gridCol>
                <a:gridCol w="1056128">
                  <a:extLst>
                    <a:ext uri="{9D8B030D-6E8A-4147-A177-3AD203B41FA5}">
                      <a16:colId xmlns:a16="http://schemas.microsoft.com/office/drawing/2014/main" val="185350032"/>
                    </a:ext>
                  </a:extLst>
                </a:gridCol>
                <a:gridCol w="1533089">
                  <a:extLst>
                    <a:ext uri="{9D8B030D-6E8A-4147-A177-3AD203B41FA5}">
                      <a16:colId xmlns:a16="http://schemas.microsoft.com/office/drawing/2014/main" val="226580583"/>
                    </a:ext>
                  </a:extLst>
                </a:gridCol>
                <a:gridCol w="1464952">
                  <a:extLst>
                    <a:ext uri="{9D8B030D-6E8A-4147-A177-3AD203B41FA5}">
                      <a16:colId xmlns:a16="http://schemas.microsoft.com/office/drawing/2014/main" val="3616372908"/>
                    </a:ext>
                  </a:extLst>
                </a:gridCol>
                <a:gridCol w="1652329">
                  <a:extLst>
                    <a:ext uri="{9D8B030D-6E8A-4147-A177-3AD203B41FA5}">
                      <a16:colId xmlns:a16="http://schemas.microsoft.com/office/drawing/2014/main" val="4032410205"/>
                    </a:ext>
                  </a:extLst>
                </a:gridCol>
              </a:tblGrid>
              <a:tr h="531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Year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events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FARC </a:t>
                      </a:r>
                      <a:r>
                        <a:rPr lang="es-CO" sz="14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related</a:t>
                      </a:r>
                      <a:r>
                        <a:rPr lang="es-CO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events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</a:t>
                      </a:r>
                      <a:r>
                        <a:rPr lang="es-CO" sz="14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NoFarc</a:t>
                      </a:r>
                      <a:r>
                        <a:rPr lang="es-CO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events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unidentified events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822011"/>
                  </a:ext>
                </a:extLst>
              </a:tr>
              <a:tr h="2656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4444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1329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3115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2638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896197"/>
                  </a:ext>
                </a:extLst>
              </a:tr>
              <a:tr h="2656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5513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2362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3151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2636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167395"/>
                  </a:ext>
                </a:extLst>
              </a:tr>
              <a:tr h="2656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4367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2165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2202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1684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434409"/>
                  </a:ext>
                </a:extLst>
              </a:tr>
              <a:tr h="2656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2014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2665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631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2034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1613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2218"/>
                  </a:ext>
                </a:extLst>
              </a:tr>
              <a:tr h="26561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16989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6487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10502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8571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0631951"/>
                  </a:ext>
                </a:extLst>
              </a:tr>
              <a:tr h="2656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8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38.18%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61.82%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O" sz="1800" b="1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50.45%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804642"/>
                  </a:ext>
                </a:extLst>
              </a:tr>
            </a:tbl>
          </a:graphicData>
        </a:graphic>
      </p:graphicFrame>
      <p:sp>
        <p:nvSpPr>
          <p:cNvPr id="18" name="CuadroTexto 17">
            <a:extLst>
              <a:ext uri="{FF2B5EF4-FFF2-40B4-BE49-F238E27FC236}">
                <a16:creationId xmlns:a16="http://schemas.microsoft.com/office/drawing/2014/main" id="{3FEC2AFA-33AF-707E-16A4-3285901B2B94}"/>
              </a:ext>
            </a:extLst>
          </p:cNvPr>
          <p:cNvSpPr txBox="1"/>
          <p:nvPr/>
        </p:nvSpPr>
        <p:spPr>
          <a:xfrm>
            <a:off x="7462918" y="4318489"/>
            <a:ext cx="438495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Concern with unidentified events </a:t>
            </a:r>
          </a:p>
          <a:p>
            <a:pPr algn="ctr"/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391 mun with at least 1 FARC event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517 mun with no FARC events, but with at least 1unidentified event.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7FD7E1C-93D1-EC7F-4A0D-B2CBFE950D09}"/>
              </a:ext>
            </a:extLst>
          </p:cNvPr>
          <p:cNvSpPr txBox="1"/>
          <p:nvPr/>
        </p:nvSpPr>
        <p:spPr>
          <a:xfrm>
            <a:off x="5482336" y="42802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municipalities 1121 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0B02638-E776-3D8D-1F1E-FDD872E4B988}"/>
              </a:ext>
            </a:extLst>
          </p:cNvPr>
          <p:cNvSpPr/>
          <p:nvPr/>
        </p:nvSpPr>
        <p:spPr>
          <a:xfrm>
            <a:off x="3873057" y="2673274"/>
            <a:ext cx="1911523" cy="34057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Robustness check</a:t>
            </a:r>
            <a:endParaRPr lang="es-CO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564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16D24F5-F1AD-9644-1616-40BDDDAA52EE}"/>
              </a:ext>
            </a:extLst>
          </p:cNvPr>
          <p:cNvSpPr/>
          <p:nvPr/>
        </p:nvSpPr>
        <p:spPr>
          <a:xfrm>
            <a:off x="849376" y="308813"/>
            <a:ext cx="1072896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Specification</a:t>
            </a:r>
            <a:endParaRPr lang="en-US" sz="3733" dirty="0">
              <a:solidFill>
                <a:srgbClr val="002060"/>
              </a:solidFill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D84BDD87-C290-5705-7354-AA71D95C03C9}"/>
              </a:ext>
            </a:extLst>
          </p:cNvPr>
          <p:cNvSpPr/>
          <p:nvPr/>
        </p:nvSpPr>
        <p:spPr>
          <a:xfrm>
            <a:off x="670560" y="1024128"/>
            <a:ext cx="108508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EE480A6-A13D-8092-CEA4-8084EAF63CFE}"/>
              </a:ext>
            </a:extLst>
          </p:cNvPr>
          <p:cNvSpPr txBox="1"/>
          <p:nvPr/>
        </p:nvSpPr>
        <p:spPr>
          <a:xfrm>
            <a:off x="993058" y="1219199"/>
            <a:ext cx="993058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Binary presence: exposed vs. unexposed municipalities</a:t>
            </a:r>
          </a:p>
          <a:p>
            <a:r>
              <a:rPr lang="en-GB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GB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Treatment = 1 if farc_events &gt; 0 . 0 otherwise</a:t>
            </a:r>
          </a:p>
          <a:p>
            <a:r>
              <a:rPr lang="en-GB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Treated municipalities: 391 (34.9%) </a:t>
            </a:r>
          </a:p>
          <a:p>
            <a:r>
              <a:rPr lang="en-GB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 municipalities: 730</a:t>
            </a:r>
          </a:p>
          <a:p>
            <a:endParaRPr lang="en-GB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Intensity high/low/no exposure conditional on &gt;=1 attack   (Heterogeneous effect) </a:t>
            </a:r>
          </a:p>
          <a:p>
            <a:endParaRPr lang="en-GB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Pure control (unexposed): 730 municipalities</a:t>
            </a:r>
          </a:p>
          <a:p>
            <a:r>
              <a:rPr lang="en-GB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 </a:t>
            </a:r>
            <a:r>
              <a:rPr lang="en-GB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exposure: 196  municipalities (&lt;= median for positive events)</a:t>
            </a:r>
          </a:p>
          <a:p>
            <a:r>
              <a:rPr lang="en-GB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  High exposure: 195 municipalities (&gt; median for positive events)</a:t>
            </a:r>
          </a:p>
          <a:p>
            <a:endParaRPr lang="en-GB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High exposure vs. unexposed and low exposure.</a:t>
            </a:r>
          </a:p>
          <a:p>
            <a:endParaRPr lang="en-GB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rabicPeriod"/>
            </a:pPr>
            <a:endParaRPr lang="en-GB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1CE6C45-AB3D-6645-C47C-73A75399D5FB}"/>
              </a:ext>
            </a:extLst>
          </p:cNvPr>
          <p:cNvSpPr txBox="1"/>
          <p:nvPr/>
        </p:nvSpPr>
        <p:spPr>
          <a:xfrm>
            <a:off x="993058" y="4104512"/>
            <a:ext cx="1140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Treatment</a:t>
            </a:r>
          </a:p>
        </p:txBody>
      </p:sp>
      <p:sp>
        <p:nvSpPr>
          <p:cNvPr id="8" name="Abrir llave 7">
            <a:extLst>
              <a:ext uri="{FF2B5EF4-FFF2-40B4-BE49-F238E27FC236}">
                <a16:creationId xmlns:a16="http://schemas.microsoft.com/office/drawing/2014/main" id="{3D134F28-EAC5-6754-AB9A-7BB12073715D}"/>
              </a:ext>
            </a:extLst>
          </p:cNvPr>
          <p:cNvSpPr/>
          <p:nvPr/>
        </p:nvSpPr>
        <p:spPr>
          <a:xfrm>
            <a:off x="2133600" y="4028623"/>
            <a:ext cx="373626" cy="52111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9937BC7-A0F0-6241-68D3-3C7A6BF862D0}"/>
              </a:ext>
            </a:extLst>
          </p:cNvPr>
          <p:cNvSpPr txBox="1"/>
          <p:nvPr/>
        </p:nvSpPr>
        <p:spPr>
          <a:xfrm>
            <a:off x="8937522" y="3966012"/>
            <a:ext cx="1986116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Check sensitivity to different cutoffs. </a:t>
            </a:r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9A90B91-9AC4-2947-F2FF-5E8D293AC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2225" y="204239"/>
            <a:ext cx="4300399" cy="268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794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83DF4FC-97A7-E83A-3B60-901F43C5FC8D}"/>
              </a:ext>
            </a:extLst>
          </p:cNvPr>
          <p:cNvSpPr txBox="1"/>
          <p:nvPr/>
        </p:nvSpPr>
        <p:spPr>
          <a:xfrm>
            <a:off x="875070" y="365940"/>
            <a:ext cx="5455392" cy="1241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>
              <a:defRPr sz="3733" b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sz="3200" dirty="0"/>
              <a:t>Geographic distribution of treatment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4FC4D1D-0538-57F4-3CFA-B29AE3CBE5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4454" y="214028"/>
            <a:ext cx="5188298" cy="6409847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43F24F54-877A-A5EA-2335-DB5C137370DC}"/>
              </a:ext>
            </a:extLst>
          </p:cNvPr>
          <p:cNvSpPr txBox="1"/>
          <p:nvPr/>
        </p:nvSpPr>
        <p:spPr>
          <a:xfrm>
            <a:off x="875070" y="2309695"/>
            <a:ext cx="572237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sz="1600" b="1" i="0" noProof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Spillovers are a concern</a:t>
            </a:r>
            <a:r>
              <a:rPr lang="en-US" sz="1600" b="0" i="0" noProof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fontAlgn="t"/>
            <a:r>
              <a:rPr lang="en-US" sz="16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Outcomes in control municipalities may depend on treatment in neighboring municipalities.</a:t>
            </a:r>
          </a:p>
          <a:p>
            <a:pPr fontAlgn="t"/>
            <a:endParaRPr lang="en-US" sz="16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t"/>
            <a:r>
              <a:rPr lang="en-US" sz="1600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Possible lower bound: </a:t>
            </a:r>
            <a:r>
              <a:rPr lang="en-US" sz="16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spillovers are positive, control units become partially treated. The estimated effects are too small</a:t>
            </a:r>
            <a:r>
              <a:rPr lang="en-US" sz="1600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16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fontAlgn="t"/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t"/>
            <a:r>
              <a:rPr lang="en-US" sz="1600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can I do?</a:t>
            </a:r>
          </a:p>
          <a:p>
            <a:pPr fontAlgn="t"/>
            <a:r>
              <a:rPr lang="en-US" sz="16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Exclude controls near treated municipalities and compare treated vs “clean” controls.</a:t>
            </a:r>
          </a:p>
          <a:p>
            <a:pPr fontAlgn="t"/>
            <a:endParaRPr lang="en-US" sz="16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t"/>
            <a:endParaRPr lang="en-US" sz="16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t"/>
            <a:endParaRPr lang="en-US" sz="16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t">
              <a:buNone/>
            </a:pPr>
            <a:endParaRPr lang="en-US" sz="1600" b="0" i="0" noProof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467041B-9AE0-C22A-114D-C45B83CFA970}"/>
              </a:ext>
            </a:extLst>
          </p:cNvPr>
          <p:cNvSpPr/>
          <p:nvPr/>
        </p:nvSpPr>
        <p:spPr>
          <a:xfrm>
            <a:off x="2647004" y="4600397"/>
            <a:ext cx="1911523" cy="34057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Robustness check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A12D9EE7-F0E7-12E1-D4C6-71FEAA962600}"/>
              </a:ext>
            </a:extLst>
          </p:cNvPr>
          <p:cNvSpPr/>
          <p:nvPr/>
        </p:nvSpPr>
        <p:spPr>
          <a:xfrm>
            <a:off x="670560" y="1024128"/>
            <a:ext cx="108508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</p:spTree>
    <p:extLst>
      <p:ext uri="{BB962C8B-B14F-4D97-AF65-F5344CB8AC3E}">
        <p14:creationId xmlns:p14="http://schemas.microsoft.com/office/powerpoint/2010/main" val="2145021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A71B796-847A-4FB2-F3A7-707214FCE2E2}"/>
              </a:ext>
            </a:extLst>
          </p:cNvPr>
          <p:cNvSpPr txBox="1"/>
          <p:nvPr/>
        </p:nvSpPr>
        <p:spPr>
          <a:xfrm>
            <a:off x="362604" y="302780"/>
            <a:ext cx="5455392" cy="407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>
              <a:defRPr sz="3733" b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sz="3200" dirty="0"/>
              <a:t>Parallel trend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AE5CA3E-1E58-99BE-AC89-3572700495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044" y="3545761"/>
            <a:ext cx="5087206" cy="317950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22F3488-3181-5ADF-3E31-577BED7A0E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551" y="851390"/>
            <a:ext cx="5387196" cy="269437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E6B8EC8-98F0-1B83-1B9E-FA2B2587B0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551" y="3545761"/>
            <a:ext cx="4497877" cy="3393369"/>
          </a:xfrm>
          <a:prstGeom prst="rect">
            <a:avLst/>
          </a:prstGeom>
        </p:spPr>
      </p:pic>
      <p:sp>
        <p:nvSpPr>
          <p:cNvPr id="13" name="Shape 1">
            <a:extLst>
              <a:ext uri="{FF2B5EF4-FFF2-40B4-BE49-F238E27FC236}">
                <a16:creationId xmlns:a16="http://schemas.microsoft.com/office/drawing/2014/main" id="{7B7A6BAF-DA05-2E29-B6B2-86B5EF59E1AF}"/>
              </a:ext>
            </a:extLst>
          </p:cNvPr>
          <p:cNvSpPr/>
          <p:nvPr/>
        </p:nvSpPr>
        <p:spPr>
          <a:xfrm>
            <a:off x="670560" y="729161"/>
            <a:ext cx="108508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FB1F4E19-5F10-42AE-A752-7CA0D3DABD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5253" y="43023"/>
            <a:ext cx="5604381" cy="350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699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1AC08-FC36-6894-8D6C-F723AEE13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05B9E60-DC24-8F6A-DDF1-4CC9E294929F}"/>
              </a:ext>
            </a:extLst>
          </p:cNvPr>
          <p:cNvSpPr txBox="1"/>
          <p:nvPr/>
        </p:nvSpPr>
        <p:spPr>
          <a:xfrm>
            <a:off x="824720" y="321378"/>
            <a:ext cx="5455392" cy="407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>
              <a:defRPr sz="3733" b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sz="3200" dirty="0"/>
              <a:t>Next steps 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C49EC7A-8CE9-600E-0BE2-C6C0D73CE29E}"/>
              </a:ext>
            </a:extLst>
          </p:cNvPr>
          <p:cNvSpPr txBox="1"/>
          <p:nvPr/>
        </p:nvSpPr>
        <p:spPr>
          <a:xfrm>
            <a:off x="1189702" y="1539003"/>
            <a:ext cx="1041236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noProof="0" dirty="0"/>
              <a:t>Event study using an alternative treatment definition</a:t>
            </a:r>
          </a:p>
          <a:p>
            <a:pPr marL="285750" indent="-2857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noProof="0" dirty="0"/>
              <a:t>Estimate the baseline Difference-in-Differences (</a:t>
            </a:r>
            <a:r>
              <a:rPr lang="en-US" sz="2000" noProof="0" dirty="0" err="1"/>
              <a:t>DiD</a:t>
            </a:r>
            <a:r>
              <a:rPr lang="en-US" sz="2000" noProof="0" dirty="0"/>
              <a:t>) specification without controls. </a:t>
            </a:r>
          </a:p>
          <a:p>
            <a:pPr marL="285750" indent="-2857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noProof="0" dirty="0"/>
              <a:t>Estimate the </a:t>
            </a:r>
            <a:r>
              <a:rPr lang="en-US" sz="2000" noProof="0" dirty="0" err="1"/>
              <a:t>DiD</a:t>
            </a:r>
            <a:r>
              <a:rPr lang="en-US" sz="2000" noProof="0" dirty="0"/>
              <a:t> specification including municipal-level controls.</a:t>
            </a:r>
          </a:p>
          <a:p>
            <a:pPr marL="285750" indent="-2857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noProof="0" dirty="0"/>
              <a:t>Analyze heterogeneous effects by FARC exposure intensity.</a:t>
            </a:r>
          </a:p>
          <a:p>
            <a:pPr marL="285750" indent="-2857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noProof="0" dirty="0"/>
              <a:t>Analyze heterogeneous effects by sex.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B5A5D5D5-7049-8D7A-8DB6-42F7C3F3D9BE}"/>
              </a:ext>
            </a:extLst>
          </p:cNvPr>
          <p:cNvSpPr/>
          <p:nvPr/>
        </p:nvSpPr>
        <p:spPr>
          <a:xfrm>
            <a:off x="670560" y="729161"/>
            <a:ext cx="108508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 sz="2400"/>
          </a:p>
        </p:txBody>
      </p:sp>
    </p:spTree>
    <p:extLst>
      <p:ext uri="{BB962C8B-B14F-4D97-AF65-F5344CB8AC3E}">
        <p14:creationId xmlns:p14="http://schemas.microsoft.com/office/powerpoint/2010/main" val="2928724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10325</TotalTime>
  <Words>463</Words>
  <Application>Microsoft Office PowerPoint</Application>
  <PresentationFormat>Panorámica</PresentationFormat>
  <Paragraphs>103</Paragraphs>
  <Slides>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3" baseType="lpstr">
      <vt:lpstr>Aptos</vt:lpstr>
      <vt:lpstr>Arial</vt:lpstr>
      <vt:lpstr>Calibri</vt:lpstr>
      <vt:lpstr>Tw Cen MT</vt:lpstr>
      <vt:lpstr>Tw Cen MT Condensed</vt:lpstr>
      <vt:lpstr>Wingdings 3</vt:lpstr>
      <vt:lpstr>Integral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Aragon-Acevedo,J (pgt)</dc:creator>
  <cp:lastModifiedBy>Aragon-Acevedo,J (pgt)</cp:lastModifiedBy>
  <cp:revision>14</cp:revision>
  <dcterms:created xsi:type="dcterms:W3CDTF">2026-05-07T18:35:40Z</dcterms:created>
  <dcterms:modified xsi:type="dcterms:W3CDTF">2026-06-30T22:22:11Z</dcterms:modified>
</cp:coreProperties>
</file>